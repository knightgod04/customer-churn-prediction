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Lilita One" charset="1" panose="02000000000000000000"/>
      <p:regular r:id="rId20"/>
    </p:embeddedFont>
    <p:embeddedFont>
      <p:font typeface="Poppins Bold" charset="1" panose="00000800000000000000"/>
      <p:regular r:id="rId21"/>
    </p:embeddedFont>
    <p:embeddedFont>
      <p:font typeface="Poppins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1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2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34441" y="0"/>
            <a:ext cx="20556882" cy="10287000"/>
            <a:chOff x="0" y="0"/>
            <a:chExt cx="2740917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93176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5466189"/>
            <a:ext cx="10517354" cy="869445"/>
            <a:chOff x="0" y="0"/>
            <a:chExt cx="2770003" cy="2289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70003" cy="228990"/>
            </a:xfrm>
            <a:custGeom>
              <a:avLst/>
              <a:gdLst/>
              <a:ahLst/>
              <a:cxnLst/>
              <a:rect r="r" b="b" t="t" l="l"/>
              <a:pathLst>
                <a:path h="228990" w="2770003">
                  <a:moveTo>
                    <a:pt x="73611" y="0"/>
                  </a:moveTo>
                  <a:lnTo>
                    <a:pt x="2696392" y="0"/>
                  </a:lnTo>
                  <a:cubicBezTo>
                    <a:pt x="2715914" y="0"/>
                    <a:pt x="2734638" y="7755"/>
                    <a:pt x="2748443" y="21560"/>
                  </a:cubicBezTo>
                  <a:cubicBezTo>
                    <a:pt x="2762247" y="35365"/>
                    <a:pt x="2770003" y="54088"/>
                    <a:pt x="2770003" y="73611"/>
                  </a:cubicBezTo>
                  <a:lnTo>
                    <a:pt x="2770003" y="155379"/>
                  </a:lnTo>
                  <a:cubicBezTo>
                    <a:pt x="2770003" y="174902"/>
                    <a:pt x="2762247" y="193625"/>
                    <a:pt x="2748443" y="207429"/>
                  </a:cubicBezTo>
                  <a:cubicBezTo>
                    <a:pt x="2734638" y="221234"/>
                    <a:pt x="2715914" y="228990"/>
                    <a:pt x="2696392" y="228990"/>
                  </a:cubicBezTo>
                  <a:lnTo>
                    <a:pt x="73611" y="228990"/>
                  </a:lnTo>
                  <a:cubicBezTo>
                    <a:pt x="54088" y="228990"/>
                    <a:pt x="35365" y="221234"/>
                    <a:pt x="21560" y="207429"/>
                  </a:cubicBezTo>
                  <a:cubicBezTo>
                    <a:pt x="7755" y="193625"/>
                    <a:pt x="0" y="174902"/>
                    <a:pt x="0" y="155379"/>
                  </a:cubicBezTo>
                  <a:lnTo>
                    <a:pt x="0" y="73611"/>
                  </a:lnTo>
                  <a:cubicBezTo>
                    <a:pt x="0" y="54088"/>
                    <a:pt x="7755" y="35365"/>
                    <a:pt x="21560" y="21560"/>
                  </a:cubicBezTo>
                  <a:cubicBezTo>
                    <a:pt x="35365" y="7755"/>
                    <a:pt x="54088" y="0"/>
                    <a:pt x="73611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770003" cy="257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889006" y="9258300"/>
            <a:ext cx="24066013" cy="1630186"/>
            <a:chOff x="0" y="0"/>
            <a:chExt cx="6338374" cy="4293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38374" cy="429349"/>
            </a:xfrm>
            <a:custGeom>
              <a:avLst/>
              <a:gdLst/>
              <a:ahLst/>
              <a:cxnLst/>
              <a:rect r="r" b="b" t="t" l="l"/>
              <a:pathLst>
                <a:path h="429349" w="6338374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746328" y="4731384"/>
            <a:ext cx="4754466" cy="4857692"/>
          </a:xfrm>
          <a:custGeom>
            <a:avLst/>
            <a:gdLst/>
            <a:ahLst/>
            <a:cxnLst/>
            <a:rect r="r" b="b" t="t" l="l"/>
            <a:pathLst>
              <a:path h="4857692" w="4754466">
                <a:moveTo>
                  <a:pt x="0" y="0"/>
                </a:moveTo>
                <a:lnTo>
                  <a:pt x="4754466" y="0"/>
                </a:lnTo>
                <a:lnTo>
                  <a:pt x="4754466" y="4857691"/>
                </a:lnTo>
                <a:lnTo>
                  <a:pt x="0" y="48576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7541310"/>
            <a:ext cx="131539" cy="1033478"/>
            <a:chOff x="0" y="0"/>
            <a:chExt cx="34644" cy="2721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644" cy="272192"/>
            </a:xfrm>
            <a:custGeom>
              <a:avLst/>
              <a:gdLst/>
              <a:ahLst/>
              <a:cxnLst/>
              <a:rect r="r" b="b" t="t" l="l"/>
              <a:pathLst>
                <a:path h="272192" w="34644">
                  <a:moveTo>
                    <a:pt x="0" y="0"/>
                  </a:moveTo>
                  <a:lnTo>
                    <a:pt x="34644" y="0"/>
                  </a:lnTo>
                  <a:lnTo>
                    <a:pt x="34644" y="272192"/>
                  </a:lnTo>
                  <a:lnTo>
                    <a:pt x="0" y="272192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4644" cy="310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210263" y="1604039"/>
            <a:ext cx="2726295" cy="3255278"/>
          </a:xfrm>
          <a:custGeom>
            <a:avLst/>
            <a:gdLst/>
            <a:ahLst/>
            <a:cxnLst/>
            <a:rect r="r" b="b" t="t" l="l"/>
            <a:pathLst>
              <a:path h="3255278" w="2726295">
                <a:moveTo>
                  <a:pt x="0" y="0"/>
                </a:moveTo>
                <a:lnTo>
                  <a:pt x="2726295" y="0"/>
                </a:lnTo>
                <a:lnTo>
                  <a:pt x="2726295" y="3255278"/>
                </a:lnTo>
                <a:lnTo>
                  <a:pt x="0" y="32552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2310609"/>
            <a:ext cx="13926768" cy="205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53"/>
              </a:lnSpc>
            </a:pPr>
            <a:r>
              <a:rPr lang="en-US" sz="818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CUSTOMER CHURN ANALYSIS</a:t>
            </a:r>
          </a:p>
          <a:p>
            <a:pPr algn="l" marL="0" indent="0" lvl="0">
              <a:lnSpc>
                <a:spcPts val="7853"/>
              </a:lnSpc>
            </a:pPr>
            <a:r>
              <a:rPr lang="en-US" sz="818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FOR TELECOM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5523087"/>
            <a:ext cx="10517354" cy="458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5"/>
              </a:lnSpc>
            </a:pPr>
            <a:r>
              <a:rPr lang="en-US" b="true" sz="256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Statistical Analysis, Predictive Modeling &amp; Retention Strategies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088377"/>
            <a:ext cx="13926768" cy="441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5"/>
              </a:lnSpc>
            </a:pPr>
            <a:r>
              <a:rPr lang="en-US" b="true" sz="248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byANUBHAV ROY | 2026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96792" y="7488159"/>
            <a:ext cx="3311018" cy="79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6"/>
              </a:lnSpc>
            </a:pPr>
            <a:r>
              <a:rPr lang="en-US" sz="211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ANUBHAV ROY </a:t>
            </a:r>
          </a:p>
          <a:p>
            <a:pPr algn="l" marL="0" indent="0" lvl="0">
              <a:lnSpc>
                <a:spcPts val="3196"/>
              </a:lnSpc>
            </a:pPr>
            <a:r>
              <a:rPr lang="en-US" sz="211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MSc Statistics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1617912">
            <a:off x="13302929" y="745015"/>
            <a:ext cx="1501463" cy="2152634"/>
          </a:xfrm>
          <a:custGeom>
            <a:avLst/>
            <a:gdLst/>
            <a:ahLst/>
            <a:cxnLst/>
            <a:rect r="r" b="b" t="t" l="l"/>
            <a:pathLst>
              <a:path h="2152634" w="1501463">
                <a:moveTo>
                  <a:pt x="0" y="0"/>
                </a:moveTo>
                <a:lnTo>
                  <a:pt x="1501463" y="0"/>
                </a:lnTo>
                <a:lnTo>
                  <a:pt x="1501463" y="2152635"/>
                </a:lnTo>
                <a:lnTo>
                  <a:pt x="0" y="21526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2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34441" y="0"/>
            <a:ext cx="20556882" cy="10287000"/>
            <a:chOff x="0" y="0"/>
            <a:chExt cx="2740917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93176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86329" y="4471770"/>
            <a:ext cx="6863424" cy="665162"/>
            <a:chOff x="0" y="0"/>
            <a:chExt cx="1807651" cy="1751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07651" cy="175187"/>
            </a:xfrm>
            <a:custGeom>
              <a:avLst/>
              <a:gdLst/>
              <a:ahLst/>
              <a:cxnLst/>
              <a:rect r="r" b="b" t="t" l="l"/>
              <a:pathLst>
                <a:path h="175187" w="1807651">
                  <a:moveTo>
                    <a:pt x="31584" y="0"/>
                  </a:moveTo>
                  <a:lnTo>
                    <a:pt x="1776067" y="0"/>
                  </a:lnTo>
                  <a:cubicBezTo>
                    <a:pt x="1784443" y="0"/>
                    <a:pt x="1792477" y="3328"/>
                    <a:pt x="1798400" y="9251"/>
                  </a:cubicBezTo>
                  <a:cubicBezTo>
                    <a:pt x="1804323" y="15174"/>
                    <a:pt x="1807651" y="23207"/>
                    <a:pt x="1807651" y="31584"/>
                  </a:cubicBezTo>
                  <a:lnTo>
                    <a:pt x="1807651" y="143603"/>
                  </a:lnTo>
                  <a:cubicBezTo>
                    <a:pt x="1807651" y="161046"/>
                    <a:pt x="1793510" y="175187"/>
                    <a:pt x="1776067" y="175187"/>
                  </a:cubicBezTo>
                  <a:lnTo>
                    <a:pt x="31584" y="175187"/>
                  </a:lnTo>
                  <a:cubicBezTo>
                    <a:pt x="14141" y="175187"/>
                    <a:pt x="0" y="161046"/>
                    <a:pt x="0" y="143603"/>
                  </a:cubicBezTo>
                  <a:lnTo>
                    <a:pt x="0" y="31584"/>
                  </a:lnTo>
                  <a:cubicBezTo>
                    <a:pt x="0" y="14141"/>
                    <a:pt x="14141" y="0"/>
                    <a:pt x="31584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07651" cy="213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86329" y="5325272"/>
            <a:ext cx="7029063" cy="663002"/>
            <a:chOff x="0" y="0"/>
            <a:chExt cx="1851276" cy="1746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51276" cy="174618"/>
            </a:xfrm>
            <a:custGeom>
              <a:avLst/>
              <a:gdLst/>
              <a:ahLst/>
              <a:cxnLst/>
              <a:rect r="r" b="b" t="t" l="l"/>
              <a:pathLst>
                <a:path h="174618" w="1851276">
                  <a:moveTo>
                    <a:pt x="30840" y="0"/>
                  </a:moveTo>
                  <a:lnTo>
                    <a:pt x="1820436" y="0"/>
                  </a:lnTo>
                  <a:cubicBezTo>
                    <a:pt x="1837469" y="0"/>
                    <a:pt x="1851276" y="13807"/>
                    <a:pt x="1851276" y="30840"/>
                  </a:cubicBezTo>
                  <a:lnTo>
                    <a:pt x="1851276" y="143778"/>
                  </a:lnTo>
                  <a:cubicBezTo>
                    <a:pt x="1851276" y="151957"/>
                    <a:pt x="1848027" y="159801"/>
                    <a:pt x="1842243" y="165585"/>
                  </a:cubicBezTo>
                  <a:cubicBezTo>
                    <a:pt x="1836460" y="171369"/>
                    <a:pt x="1828616" y="174618"/>
                    <a:pt x="1820436" y="174618"/>
                  </a:cubicBezTo>
                  <a:lnTo>
                    <a:pt x="30840" y="174618"/>
                  </a:lnTo>
                  <a:cubicBezTo>
                    <a:pt x="22660" y="174618"/>
                    <a:pt x="14816" y="171369"/>
                    <a:pt x="9033" y="165585"/>
                  </a:cubicBezTo>
                  <a:cubicBezTo>
                    <a:pt x="3249" y="159801"/>
                    <a:pt x="0" y="151957"/>
                    <a:pt x="0" y="143778"/>
                  </a:cubicBezTo>
                  <a:lnTo>
                    <a:pt x="0" y="30840"/>
                  </a:lnTo>
                  <a:cubicBezTo>
                    <a:pt x="0" y="22660"/>
                    <a:pt x="3249" y="14816"/>
                    <a:pt x="9033" y="9033"/>
                  </a:cubicBezTo>
                  <a:cubicBezTo>
                    <a:pt x="14816" y="3249"/>
                    <a:pt x="22660" y="0"/>
                    <a:pt x="30840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851276" cy="212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889006" y="9258300"/>
            <a:ext cx="24066013" cy="1630186"/>
            <a:chOff x="0" y="0"/>
            <a:chExt cx="6338374" cy="4293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38374" cy="429349"/>
            </a:xfrm>
            <a:custGeom>
              <a:avLst/>
              <a:gdLst/>
              <a:ahLst/>
              <a:cxnLst/>
              <a:rect r="r" b="b" t="t" l="l"/>
              <a:pathLst>
                <a:path h="429349" w="6338374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986329" y="6178774"/>
            <a:ext cx="6863424" cy="665162"/>
            <a:chOff x="0" y="0"/>
            <a:chExt cx="1807651" cy="1751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07651" cy="175187"/>
            </a:xfrm>
            <a:custGeom>
              <a:avLst/>
              <a:gdLst/>
              <a:ahLst/>
              <a:cxnLst/>
              <a:rect r="r" b="b" t="t" l="l"/>
              <a:pathLst>
                <a:path h="175187" w="1807651">
                  <a:moveTo>
                    <a:pt x="31584" y="0"/>
                  </a:moveTo>
                  <a:lnTo>
                    <a:pt x="1776067" y="0"/>
                  </a:lnTo>
                  <a:cubicBezTo>
                    <a:pt x="1784443" y="0"/>
                    <a:pt x="1792477" y="3328"/>
                    <a:pt x="1798400" y="9251"/>
                  </a:cubicBezTo>
                  <a:cubicBezTo>
                    <a:pt x="1804323" y="15174"/>
                    <a:pt x="1807651" y="23207"/>
                    <a:pt x="1807651" y="31584"/>
                  </a:cubicBezTo>
                  <a:lnTo>
                    <a:pt x="1807651" y="143603"/>
                  </a:lnTo>
                  <a:cubicBezTo>
                    <a:pt x="1807651" y="161046"/>
                    <a:pt x="1793510" y="175187"/>
                    <a:pt x="1776067" y="175187"/>
                  </a:cubicBezTo>
                  <a:lnTo>
                    <a:pt x="31584" y="175187"/>
                  </a:lnTo>
                  <a:cubicBezTo>
                    <a:pt x="14141" y="175187"/>
                    <a:pt x="0" y="161046"/>
                    <a:pt x="0" y="143603"/>
                  </a:cubicBezTo>
                  <a:lnTo>
                    <a:pt x="0" y="31584"/>
                  </a:lnTo>
                  <a:cubicBezTo>
                    <a:pt x="0" y="14141"/>
                    <a:pt x="14141" y="0"/>
                    <a:pt x="31584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807651" cy="213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86329" y="7032275"/>
            <a:ext cx="6863424" cy="665162"/>
            <a:chOff x="0" y="0"/>
            <a:chExt cx="1807651" cy="17518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07651" cy="175187"/>
            </a:xfrm>
            <a:custGeom>
              <a:avLst/>
              <a:gdLst/>
              <a:ahLst/>
              <a:cxnLst/>
              <a:rect r="r" b="b" t="t" l="l"/>
              <a:pathLst>
                <a:path h="175187" w="1807651">
                  <a:moveTo>
                    <a:pt x="31584" y="0"/>
                  </a:moveTo>
                  <a:lnTo>
                    <a:pt x="1776067" y="0"/>
                  </a:lnTo>
                  <a:cubicBezTo>
                    <a:pt x="1784443" y="0"/>
                    <a:pt x="1792477" y="3328"/>
                    <a:pt x="1798400" y="9251"/>
                  </a:cubicBezTo>
                  <a:cubicBezTo>
                    <a:pt x="1804323" y="15174"/>
                    <a:pt x="1807651" y="23207"/>
                    <a:pt x="1807651" y="31584"/>
                  </a:cubicBezTo>
                  <a:lnTo>
                    <a:pt x="1807651" y="143603"/>
                  </a:lnTo>
                  <a:cubicBezTo>
                    <a:pt x="1807651" y="161046"/>
                    <a:pt x="1793510" y="175187"/>
                    <a:pt x="1776067" y="175187"/>
                  </a:cubicBezTo>
                  <a:lnTo>
                    <a:pt x="31584" y="175187"/>
                  </a:lnTo>
                  <a:cubicBezTo>
                    <a:pt x="14141" y="175187"/>
                    <a:pt x="0" y="161046"/>
                    <a:pt x="0" y="143603"/>
                  </a:cubicBezTo>
                  <a:lnTo>
                    <a:pt x="0" y="31584"/>
                  </a:lnTo>
                  <a:cubicBezTo>
                    <a:pt x="0" y="14141"/>
                    <a:pt x="14141" y="0"/>
                    <a:pt x="31584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807651" cy="213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986329" y="7885777"/>
            <a:ext cx="6863424" cy="665162"/>
            <a:chOff x="0" y="0"/>
            <a:chExt cx="1807651" cy="17518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07651" cy="175187"/>
            </a:xfrm>
            <a:custGeom>
              <a:avLst/>
              <a:gdLst/>
              <a:ahLst/>
              <a:cxnLst/>
              <a:rect r="r" b="b" t="t" l="l"/>
              <a:pathLst>
                <a:path h="175187" w="1807651">
                  <a:moveTo>
                    <a:pt x="31584" y="0"/>
                  </a:moveTo>
                  <a:lnTo>
                    <a:pt x="1776067" y="0"/>
                  </a:lnTo>
                  <a:cubicBezTo>
                    <a:pt x="1784443" y="0"/>
                    <a:pt x="1792477" y="3328"/>
                    <a:pt x="1798400" y="9251"/>
                  </a:cubicBezTo>
                  <a:cubicBezTo>
                    <a:pt x="1804323" y="15174"/>
                    <a:pt x="1807651" y="23207"/>
                    <a:pt x="1807651" y="31584"/>
                  </a:cubicBezTo>
                  <a:lnTo>
                    <a:pt x="1807651" y="143603"/>
                  </a:lnTo>
                  <a:cubicBezTo>
                    <a:pt x="1807651" y="161046"/>
                    <a:pt x="1793510" y="175187"/>
                    <a:pt x="1776067" y="175187"/>
                  </a:cubicBezTo>
                  <a:lnTo>
                    <a:pt x="31584" y="175187"/>
                  </a:lnTo>
                  <a:cubicBezTo>
                    <a:pt x="14141" y="175187"/>
                    <a:pt x="0" y="161046"/>
                    <a:pt x="0" y="143603"/>
                  </a:cubicBezTo>
                  <a:lnTo>
                    <a:pt x="0" y="31584"/>
                  </a:lnTo>
                  <a:cubicBezTo>
                    <a:pt x="0" y="14141"/>
                    <a:pt x="14141" y="0"/>
                    <a:pt x="31584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807651" cy="213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30146" y="4588747"/>
            <a:ext cx="472735" cy="47273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30146" y="5431867"/>
            <a:ext cx="472735" cy="47273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30146" y="6274987"/>
            <a:ext cx="472735" cy="47273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30146" y="7118106"/>
            <a:ext cx="472735" cy="47273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30146" y="7961226"/>
            <a:ext cx="472735" cy="472735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-716500" y="1792608"/>
            <a:ext cx="11808450" cy="7882141"/>
          </a:xfrm>
          <a:custGeom>
            <a:avLst/>
            <a:gdLst/>
            <a:ahLst/>
            <a:cxnLst/>
            <a:rect r="r" b="b" t="t" l="l"/>
            <a:pathLst>
              <a:path h="7882141" w="11808450">
                <a:moveTo>
                  <a:pt x="0" y="0"/>
                </a:moveTo>
                <a:lnTo>
                  <a:pt x="11808450" y="0"/>
                </a:lnTo>
                <a:lnTo>
                  <a:pt x="11808450" y="7882140"/>
                </a:lnTo>
                <a:lnTo>
                  <a:pt x="0" y="7882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-8624752">
            <a:off x="785499" y="3828383"/>
            <a:ext cx="1085674" cy="1556523"/>
          </a:xfrm>
          <a:custGeom>
            <a:avLst/>
            <a:gdLst/>
            <a:ahLst/>
            <a:cxnLst/>
            <a:rect r="r" b="b" t="t" l="l"/>
            <a:pathLst>
              <a:path h="1556523" w="1085674">
                <a:moveTo>
                  <a:pt x="0" y="0"/>
                </a:moveTo>
                <a:lnTo>
                  <a:pt x="1085675" y="0"/>
                </a:lnTo>
                <a:lnTo>
                  <a:pt x="1085675" y="1556523"/>
                </a:lnTo>
                <a:lnTo>
                  <a:pt x="0" y="15565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3736269">
            <a:off x="7443072" y="6750963"/>
            <a:ext cx="856381" cy="1227787"/>
          </a:xfrm>
          <a:custGeom>
            <a:avLst/>
            <a:gdLst/>
            <a:ahLst/>
            <a:cxnLst/>
            <a:rect r="r" b="b" t="t" l="l"/>
            <a:pathLst>
              <a:path h="1227787" w="856381">
                <a:moveTo>
                  <a:pt x="0" y="0"/>
                </a:moveTo>
                <a:lnTo>
                  <a:pt x="856381" y="0"/>
                </a:lnTo>
                <a:lnTo>
                  <a:pt x="856381" y="1227786"/>
                </a:lnTo>
                <a:lnTo>
                  <a:pt x="0" y="12277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-332749" y="1246043"/>
            <a:ext cx="2991367" cy="2161263"/>
          </a:xfrm>
          <a:custGeom>
            <a:avLst/>
            <a:gdLst/>
            <a:ahLst/>
            <a:cxnLst/>
            <a:rect r="r" b="b" t="t" l="l"/>
            <a:pathLst>
              <a:path h="2161263" w="2991367">
                <a:moveTo>
                  <a:pt x="0" y="0"/>
                </a:moveTo>
                <a:lnTo>
                  <a:pt x="2991367" y="0"/>
                </a:lnTo>
                <a:lnTo>
                  <a:pt x="2991367" y="2161262"/>
                </a:lnTo>
                <a:lnTo>
                  <a:pt x="0" y="21612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9330146" y="1520926"/>
            <a:ext cx="8957854" cy="65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80"/>
              </a:lnSpc>
            </a:pPr>
            <a:r>
              <a:rPr lang="en-US" sz="497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PROJECT OVERVIEW &amp; DATASET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358897" y="2705836"/>
            <a:ext cx="8929103" cy="128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6"/>
              </a:lnSpc>
            </a:pPr>
            <a:r>
              <a:rPr lang="en-US" b="true" sz="3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 &amp; Scope of</a:t>
            </a:r>
          </a:p>
          <a:p>
            <a:pPr algn="l" marL="0" indent="0" lvl="0">
              <a:lnSpc>
                <a:spcPts val="5036"/>
              </a:lnSpc>
            </a:pPr>
            <a:r>
              <a:rPr lang="en-US" b="true" sz="3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Churn Analysis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7612064">
            <a:off x="17420867" y="2450918"/>
            <a:ext cx="1085674" cy="1556523"/>
          </a:xfrm>
          <a:custGeom>
            <a:avLst/>
            <a:gdLst/>
            <a:ahLst/>
            <a:cxnLst/>
            <a:rect r="r" b="b" t="t" l="l"/>
            <a:pathLst>
              <a:path h="1556523" w="1085674">
                <a:moveTo>
                  <a:pt x="0" y="0"/>
                </a:moveTo>
                <a:lnTo>
                  <a:pt x="1085675" y="0"/>
                </a:lnTo>
                <a:lnTo>
                  <a:pt x="1085675" y="1556522"/>
                </a:lnTo>
                <a:lnTo>
                  <a:pt x="0" y="15565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0390267" y="4539970"/>
            <a:ext cx="7175839" cy="44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Dataset: 7,043 customers, 21 variables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180017" y="5393471"/>
            <a:ext cx="7079283" cy="44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Variables: demographics, services &amp; billing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390267" y="6246973"/>
            <a:ext cx="7175839" cy="44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Target variable: customer churn status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390267" y="7100474"/>
            <a:ext cx="7175839" cy="44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Objective: identify key churn drivers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390267" y="7953976"/>
            <a:ext cx="7175839" cy="44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Goal: build a reliable predictive model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2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34441" y="0"/>
            <a:ext cx="20556882" cy="10287000"/>
            <a:chOff x="0" y="0"/>
            <a:chExt cx="2740917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93176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5292223"/>
            <a:ext cx="8477268" cy="3244459"/>
            <a:chOff x="0" y="0"/>
            <a:chExt cx="2232696" cy="8545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2696" cy="854508"/>
            </a:xfrm>
            <a:custGeom>
              <a:avLst/>
              <a:gdLst/>
              <a:ahLst/>
              <a:cxnLst/>
              <a:rect r="r" b="b" t="t" l="l"/>
              <a:pathLst>
                <a:path h="854508" w="2232696">
                  <a:moveTo>
                    <a:pt x="45663" y="0"/>
                  </a:moveTo>
                  <a:lnTo>
                    <a:pt x="2187033" y="0"/>
                  </a:lnTo>
                  <a:cubicBezTo>
                    <a:pt x="2199144" y="0"/>
                    <a:pt x="2210758" y="4811"/>
                    <a:pt x="2219322" y="13374"/>
                  </a:cubicBezTo>
                  <a:cubicBezTo>
                    <a:pt x="2227885" y="21938"/>
                    <a:pt x="2232696" y="33552"/>
                    <a:pt x="2232696" y="45663"/>
                  </a:cubicBezTo>
                  <a:lnTo>
                    <a:pt x="2232696" y="808845"/>
                  </a:lnTo>
                  <a:cubicBezTo>
                    <a:pt x="2232696" y="820956"/>
                    <a:pt x="2227885" y="832570"/>
                    <a:pt x="2219322" y="841133"/>
                  </a:cubicBezTo>
                  <a:cubicBezTo>
                    <a:pt x="2210758" y="849697"/>
                    <a:pt x="2199144" y="854508"/>
                    <a:pt x="2187033" y="854508"/>
                  </a:cubicBezTo>
                  <a:lnTo>
                    <a:pt x="45663" y="854508"/>
                  </a:lnTo>
                  <a:cubicBezTo>
                    <a:pt x="33552" y="854508"/>
                    <a:pt x="21938" y="849697"/>
                    <a:pt x="13374" y="841133"/>
                  </a:cubicBezTo>
                  <a:cubicBezTo>
                    <a:pt x="4811" y="832570"/>
                    <a:pt x="0" y="820956"/>
                    <a:pt x="0" y="808845"/>
                  </a:cubicBezTo>
                  <a:lnTo>
                    <a:pt x="0" y="45663"/>
                  </a:lnTo>
                  <a:cubicBezTo>
                    <a:pt x="0" y="33552"/>
                    <a:pt x="4811" y="21938"/>
                    <a:pt x="13374" y="13374"/>
                  </a:cubicBezTo>
                  <a:cubicBezTo>
                    <a:pt x="21938" y="4811"/>
                    <a:pt x="33552" y="0"/>
                    <a:pt x="4566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32696" cy="892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889006" y="9258300"/>
            <a:ext cx="24066013" cy="1630186"/>
            <a:chOff x="0" y="0"/>
            <a:chExt cx="6338374" cy="4293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38374" cy="429349"/>
            </a:xfrm>
            <a:custGeom>
              <a:avLst/>
              <a:gdLst/>
              <a:ahLst/>
              <a:cxnLst/>
              <a:rect r="r" b="b" t="t" l="l"/>
              <a:pathLst>
                <a:path h="429349" w="6338374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3244104"/>
            <a:ext cx="13926768" cy="17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CHURN</a:t>
            </a:r>
          </a:p>
          <a:p>
            <a:pPr algn="l" marL="0" indent="0" lvl="0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OVERVIEW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19027" y="5606650"/>
            <a:ext cx="13364824" cy="651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6"/>
              </a:lnSpc>
            </a:pPr>
            <a:r>
              <a:rPr lang="en-US" b="true" sz="3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27% Churned, 73% Retained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19027" y="6361706"/>
            <a:ext cx="7514966" cy="149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29"/>
              </a:lnSpc>
            </a:pPr>
            <a:r>
              <a:rPr lang="en-US" sz="2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Customer churn represents a significant revenue loss. With over a quarter of customers leaving, understanding churn drivers is critical to protecting long-term business growth and improving customer lifetime value.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55793" y="550942"/>
            <a:ext cx="8384750" cy="8384750"/>
          </a:xfrm>
          <a:prstGeom prst="rect">
            <a:avLst/>
          </a:prstGeom>
        </p:spPr>
      </p:pic>
      <p:sp>
        <p:nvSpPr>
          <p:cNvPr name="Freeform 15" id="15"/>
          <p:cNvSpPr/>
          <p:nvPr/>
        </p:nvSpPr>
        <p:spPr>
          <a:xfrm flipH="false" flipV="false" rot="0">
            <a:off x="-147478" y="893863"/>
            <a:ext cx="2219676" cy="1473942"/>
          </a:xfrm>
          <a:custGeom>
            <a:avLst/>
            <a:gdLst/>
            <a:ahLst/>
            <a:cxnLst/>
            <a:rect r="r" b="b" t="t" l="l"/>
            <a:pathLst>
              <a:path h="1473942" w="2219676">
                <a:moveTo>
                  <a:pt x="0" y="0"/>
                </a:moveTo>
                <a:lnTo>
                  <a:pt x="2219675" y="0"/>
                </a:lnTo>
                <a:lnTo>
                  <a:pt x="2219675" y="1473941"/>
                </a:lnTo>
                <a:lnTo>
                  <a:pt x="0" y="14739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3143296" y="693639"/>
            <a:ext cx="1314030" cy="1883914"/>
          </a:xfrm>
          <a:custGeom>
            <a:avLst/>
            <a:gdLst/>
            <a:ahLst/>
            <a:cxnLst/>
            <a:rect r="r" b="b" t="t" l="l"/>
            <a:pathLst>
              <a:path h="1883914" w="1314030">
                <a:moveTo>
                  <a:pt x="0" y="0"/>
                </a:moveTo>
                <a:lnTo>
                  <a:pt x="1314030" y="0"/>
                </a:lnTo>
                <a:lnTo>
                  <a:pt x="1314030" y="1883914"/>
                </a:lnTo>
                <a:lnTo>
                  <a:pt x="0" y="18839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6025177">
            <a:off x="7888706" y="780666"/>
            <a:ext cx="1185983" cy="1700334"/>
          </a:xfrm>
          <a:custGeom>
            <a:avLst/>
            <a:gdLst/>
            <a:ahLst/>
            <a:cxnLst/>
            <a:rect r="r" b="b" t="t" l="l"/>
            <a:pathLst>
              <a:path h="1700334" w="1185983">
                <a:moveTo>
                  <a:pt x="0" y="0"/>
                </a:moveTo>
                <a:lnTo>
                  <a:pt x="1185983" y="0"/>
                </a:lnTo>
                <a:lnTo>
                  <a:pt x="1185983" y="1700335"/>
                </a:lnTo>
                <a:lnTo>
                  <a:pt x="0" y="17003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2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34441" y="0"/>
            <a:ext cx="20556882" cy="10287000"/>
            <a:chOff x="0" y="0"/>
            <a:chExt cx="2740917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93176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5292223"/>
            <a:ext cx="8477268" cy="3244459"/>
            <a:chOff x="0" y="0"/>
            <a:chExt cx="2232696" cy="8545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2696" cy="854508"/>
            </a:xfrm>
            <a:custGeom>
              <a:avLst/>
              <a:gdLst/>
              <a:ahLst/>
              <a:cxnLst/>
              <a:rect r="r" b="b" t="t" l="l"/>
              <a:pathLst>
                <a:path h="854508" w="2232696">
                  <a:moveTo>
                    <a:pt x="45663" y="0"/>
                  </a:moveTo>
                  <a:lnTo>
                    <a:pt x="2187033" y="0"/>
                  </a:lnTo>
                  <a:cubicBezTo>
                    <a:pt x="2199144" y="0"/>
                    <a:pt x="2210758" y="4811"/>
                    <a:pt x="2219322" y="13374"/>
                  </a:cubicBezTo>
                  <a:cubicBezTo>
                    <a:pt x="2227885" y="21938"/>
                    <a:pt x="2232696" y="33552"/>
                    <a:pt x="2232696" y="45663"/>
                  </a:cubicBezTo>
                  <a:lnTo>
                    <a:pt x="2232696" y="808845"/>
                  </a:lnTo>
                  <a:cubicBezTo>
                    <a:pt x="2232696" y="820956"/>
                    <a:pt x="2227885" y="832570"/>
                    <a:pt x="2219322" y="841133"/>
                  </a:cubicBezTo>
                  <a:cubicBezTo>
                    <a:pt x="2210758" y="849697"/>
                    <a:pt x="2199144" y="854508"/>
                    <a:pt x="2187033" y="854508"/>
                  </a:cubicBezTo>
                  <a:lnTo>
                    <a:pt x="45663" y="854508"/>
                  </a:lnTo>
                  <a:cubicBezTo>
                    <a:pt x="33552" y="854508"/>
                    <a:pt x="21938" y="849697"/>
                    <a:pt x="13374" y="841133"/>
                  </a:cubicBezTo>
                  <a:cubicBezTo>
                    <a:pt x="4811" y="832570"/>
                    <a:pt x="0" y="820956"/>
                    <a:pt x="0" y="808845"/>
                  </a:cubicBezTo>
                  <a:lnTo>
                    <a:pt x="0" y="45663"/>
                  </a:lnTo>
                  <a:cubicBezTo>
                    <a:pt x="0" y="33552"/>
                    <a:pt x="4811" y="21938"/>
                    <a:pt x="13374" y="13374"/>
                  </a:cubicBezTo>
                  <a:cubicBezTo>
                    <a:pt x="21938" y="4811"/>
                    <a:pt x="33552" y="0"/>
                    <a:pt x="4566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32696" cy="892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889006" y="9258300"/>
            <a:ext cx="24066013" cy="1630186"/>
            <a:chOff x="0" y="0"/>
            <a:chExt cx="6338374" cy="4293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38374" cy="429349"/>
            </a:xfrm>
            <a:custGeom>
              <a:avLst/>
              <a:gdLst/>
              <a:ahLst/>
              <a:cxnLst/>
              <a:rect r="r" b="b" t="t" l="l"/>
              <a:pathLst>
                <a:path h="429349" w="6338374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3186954"/>
            <a:ext cx="13926768" cy="1795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9"/>
              </a:lnSpc>
            </a:pPr>
            <a:r>
              <a:rPr lang="en-US" sz="4833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CUSTOMER</a:t>
            </a:r>
          </a:p>
          <a:p>
            <a:pPr algn="l" marL="0" indent="0" lvl="0">
              <a:lnSpc>
                <a:spcPts val="4639"/>
              </a:lnSpc>
            </a:pPr>
            <a:r>
              <a:rPr lang="en-US" sz="4833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SEGMENTS</a:t>
            </a:r>
          </a:p>
          <a:p>
            <a:pPr algn="l" marL="0" indent="0" lvl="0">
              <a:lnSpc>
                <a:spcPts val="4639"/>
              </a:lnSpc>
            </a:pPr>
            <a:r>
              <a:rPr lang="en-US" sz="4833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BREAKDOWN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0775" y="5606650"/>
            <a:ext cx="8630206" cy="651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6"/>
              </a:lnSpc>
            </a:pPr>
            <a:r>
              <a:rPr lang="en-US" b="true" sz="3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Contract Types &amp; Internet Services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19027" y="6361706"/>
            <a:ext cx="7514966" cy="1755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54% of customers are on month-to-month contracts, the highest churn risk segment. Only 22.75% hold two-year contracts. For internet services, 43% use Fiber optic and 34% use DSL.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443370" y="982752"/>
            <a:ext cx="8609597" cy="7820850"/>
          </a:xfrm>
          <a:prstGeom prst="rect">
            <a:avLst/>
          </a:prstGeom>
        </p:spPr>
      </p:pic>
      <p:sp>
        <p:nvSpPr>
          <p:cNvPr name="Freeform 15" id="15"/>
          <p:cNvSpPr/>
          <p:nvPr/>
        </p:nvSpPr>
        <p:spPr>
          <a:xfrm flipH="false" flipV="false" rot="0">
            <a:off x="-116852" y="550396"/>
            <a:ext cx="2164508" cy="2160239"/>
          </a:xfrm>
          <a:custGeom>
            <a:avLst/>
            <a:gdLst/>
            <a:ahLst/>
            <a:cxnLst/>
            <a:rect r="r" b="b" t="t" l="l"/>
            <a:pathLst>
              <a:path h="2160239" w="2164508">
                <a:moveTo>
                  <a:pt x="0" y="0"/>
                </a:moveTo>
                <a:lnTo>
                  <a:pt x="2164508" y="0"/>
                </a:lnTo>
                <a:lnTo>
                  <a:pt x="2164508" y="2160239"/>
                </a:lnTo>
                <a:lnTo>
                  <a:pt x="0" y="21602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3143296" y="693639"/>
            <a:ext cx="1314030" cy="1883914"/>
          </a:xfrm>
          <a:custGeom>
            <a:avLst/>
            <a:gdLst/>
            <a:ahLst/>
            <a:cxnLst/>
            <a:rect r="r" b="b" t="t" l="l"/>
            <a:pathLst>
              <a:path h="1883914" w="1314030">
                <a:moveTo>
                  <a:pt x="0" y="0"/>
                </a:moveTo>
                <a:lnTo>
                  <a:pt x="1314030" y="0"/>
                </a:lnTo>
                <a:lnTo>
                  <a:pt x="1314030" y="1883914"/>
                </a:lnTo>
                <a:lnTo>
                  <a:pt x="0" y="1883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6025177">
            <a:off x="7888706" y="780666"/>
            <a:ext cx="1185983" cy="1700334"/>
          </a:xfrm>
          <a:custGeom>
            <a:avLst/>
            <a:gdLst/>
            <a:ahLst/>
            <a:cxnLst/>
            <a:rect r="r" b="b" t="t" l="l"/>
            <a:pathLst>
              <a:path h="1700334" w="1185983">
                <a:moveTo>
                  <a:pt x="0" y="0"/>
                </a:moveTo>
                <a:lnTo>
                  <a:pt x="1185983" y="0"/>
                </a:lnTo>
                <a:lnTo>
                  <a:pt x="1185983" y="1700335"/>
                </a:lnTo>
                <a:lnTo>
                  <a:pt x="0" y="17003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2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34441" y="0"/>
            <a:ext cx="20556882" cy="10287000"/>
            <a:chOff x="0" y="0"/>
            <a:chExt cx="2740917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93176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5292223"/>
            <a:ext cx="8477268" cy="3244459"/>
            <a:chOff x="0" y="0"/>
            <a:chExt cx="2232696" cy="8545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2696" cy="854508"/>
            </a:xfrm>
            <a:custGeom>
              <a:avLst/>
              <a:gdLst/>
              <a:ahLst/>
              <a:cxnLst/>
              <a:rect r="r" b="b" t="t" l="l"/>
              <a:pathLst>
                <a:path h="854508" w="2232696">
                  <a:moveTo>
                    <a:pt x="45663" y="0"/>
                  </a:moveTo>
                  <a:lnTo>
                    <a:pt x="2187033" y="0"/>
                  </a:lnTo>
                  <a:cubicBezTo>
                    <a:pt x="2199144" y="0"/>
                    <a:pt x="2210758" y="4811"/>
                    <a:pt x="2219322" y="13374"/>
                  </a:cubicBezTo>
                  <a:cubicBezTo>
                    <a:pt x="2227885" y="21938"/>
                    <a:pt x="2232696" y="33552"/>
                    <a:pt x="2232696" y="45663"/>
                  </a:cubicBezTo>
                  <a:lnTo>
                    <a:pt x="2232696" y="808845"/>
                  </a:lnTo>
                  <a:cubicBezTo>
                    <a:pt x="2232696" y="820956"/>
                    <a:pt x="2227885" y="832570"/>
                    <a:pt x="2219322" y="841133"/>
                  </a:cubicBezTo>
                  <a:cubicBezTo>
                    <a:pt x="2210758" y="849697"/>
                    <a:pt x="2199144" y="854508"/>
                    <a:pt x="2187033" y="854508"/>
                  </a:cubicBezTo>
                  <a:lnTo>
                    <a:pt x="45663" y="854508"/>
                  </a:lnTo>
                  <a:cubicBezTo>
                    <a:pt x="33552" y="854508"/>
                    <a:pt x="21938" y="849697"/>
                    <a:pt x="13374" y="841133"/>
                  </a:cubicBezTo>
                  <a:cubicBezTo>
                    <a:pt x="4811" y="832570"/>
                    <a:pt x="0" y="820956"/>
                    <a:pt x="0" y="808845"/>
                  </a:cubicBezTo>
                  <a:lnTo>
                    <a:pt x="0" y="45663"/>
                  </a:lnTo>
                  <a:cubicBezTo>
                    <a:pt x="0" y="33552"/>
                    <a:pt x="4811" y="21938"/>
                    <a:pt x="13374" y="13374"/>
                  </a:cubicBezTo>
                  <a:cubicBezTo>
                    <a:pt x="21938" y="4811"/>
                    <a:pt x="33552" y="0"/>
                    <a:pt x="45663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32696" cy="892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889006" y="9258300"/>
            <a:ext cx="24066013" cy="1630186"/>
            <a:chOff x="0" y="0"/>
            <a:chExt cx="6338374" cy="4293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38374" cy="429349"/>
            </a:xfrm>
            <a:custGeom>
              <a:avLst/>
              <a:gdLst/>
              <a:ahLst/>
              <a:cxnLst/>
              <a:rect r="r" b="b" t="t" l="l"/>
              <a:pathLst>
                <a:path h="429349" w="6338374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3244104"/>
            <a:ext cx="13926768" cy="17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STATISTICAL ANALYSIS</a:t>
            </a:r>
          </a:p>
          <a:p>
            <a:pPr algn="l" marL="0" indent="0" lvl="0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CHI-SQUARE TEST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635225"/>
            <a:ext cx="8477268" cy="483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6"/>
              </a:lnSpc>
            </a:pPr>
            <a:r>
              <a:rPr lang="en-US" b="true" sz="26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Contract Type vs. Churn (χ² = 1179.55, p &lt; 0.001)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19027" y="6371231"/>
            <a:ext cx="7514966" cy="1488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84"/>
              </a:lnSpc>
            </a:pPr>
            <a:r>
              <a:rPr lang="en-US" sz="213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Contract type is significantly associated with churn. Month-to-month customers churn at ~43%, far exceeding one-year (11%) and two-year (3%) contracts. The chi-square test confirms this is not due to chance.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452027" y="520970"/>
            <a:ext cx="8592283" cy="8744414"/>
          </a:xfrm>
          <a:prstGeom prst="rect">
            <a:avLst/>
          </a:prstGeom>
        </p:spPr>
      </p:pic>
      <p:sp>
        <p:nvSpPr>
          <p:cNvPr name="Freeform 15" id="15"/>
          <p:cNvSpPr/>
          <p:nvPr/>
        </p:nvSpPr>
        <p:spPr>
          <a:xfrm flipH="false" flipV="false" rot="0">
            <a:off x="-147478" y="893863"/>
            <a:ext cx="2219676" cy="1473942"/>
          </a:xfrm>
          <a:custGeom>
            <a:avLst/>
            <a:gdLst/>
            <a:ahLst/>
            <a:cxnLst/>
            <a:rect r="r" b="b" t="t" l="l"/>
            <a:pathLst>
              <a:path h="1473942" w="2219676">
                <a:moveTo>
                  <a:pt x="0" y="0"/>
                </a:moveTo>
                <a:lnTo>
                  <a:pt x="2219675" y="0"/>
                </a:lnTo>
                <a:lnTo>
                  <a:pt x="2219675" y="1473941"/>
                </a:lnTo>
                <a:lnTo>
                  <a:pt x="0" y="14739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3143296" y="693639"/>
            <a:ext cx="1314030" cy="1883914"/>
          </a:xfrm>
          <a:custGeom>
            <a:avLst/>
            <a:gdLst/>
            <a:ahLst/>
            <a:cxnLst/>
            <a:rect r="r" b="b" t="t" l="l"/>
            <a:pathLst>
              <a:path h="1883914" w="1314030">
                <a:moveTo>
                  <a:pt x="0" y="0"/>
                </a:moveTo>
                <a:lnTo>
                  <a:pt x="1314030" y="0"/>
                </a:lnTo>
                <a:lnTo>
                  <a:pt x="1314030" y="1883914"/>
                </a:lnTo>
                <a:lnTo>
                  <a:pt x="0" y="18839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6025177">
            <a:off x="7888706" y="780666"/>
            <a:ext cx="1185983" cy="1700334"/>
          </a:xfrm>
          <a:custGeom>
            <a:avLst/>
            <a:gdLst/>
            <a:ahLst/>
            <a:cxnLst/>
            <a:rect r="r" b="b" t="t" l="l"/>
            <a:pathLst>
              <a:path h="1700334" w="1185983">
                <a:moveTo>
                  <a:pt x="0" y="0"/>
                </a:moveTo>
                <a:lnTo>
                  <a:pt x="1185983" y="0"/>
                </a:lnTo>
                <a:lnTo>
                  <a:pt x="1185983" y="1700335"/>
                </a:lnTo>
                <a:lnTo>
                  <a:pt x="0" y="17003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2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34441" y="0"/>
            <a:ext cx="20556882" cy="10287000"/>
            <a:chOff x="0" y="0"/>
            <a:chExt cx="2740917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93176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5292223"/>
            <a:ext cx="8969887" cy="3244459"/>
            <a:chOff x="0" y="0"/>
            <a:chExt cx="2362439" cy="8545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2439" cy="854508"/>
            </a:xfrm>
            <a:custGeom>
              <a:avLst/>
              <a:gdLst/>
              <a:ahLst/>
              <a:cxnLst/>
              <a:rect r="r" b="b" t="t" l="l"/>
              <a:pathLst>
                <a:path h="854508" w="2362439">
                  <a:moveTo>
                    <a:pt x="43155" y="0"/>
                  </a:moveTo>
                  <a:lnTo>
                    <a:pt x="2319284" y="0"/>
                  </a:lnTo>
                  <a:cubicBezTo>
                    <a:pt x="2343118" y="0"/>
                    <a:pt x="2362439" y="19321"/>
                    <a:pt x="2362439" y="43155"/>
                  </a:cubicBezTo>
                  <a:lnTo>
                    <a:pt x="2362439" y="811353"/>
                  </a:lnTo>
                  <a:cubicBezTo>
                    <a:pt x="2362439" y="822798"/>
                    <a:pt x="2357893" y="833775"/>
                    <a:pt x="2349800" y="841868"/>
                  </a:cubicBezTo>
                  <a:cubicBezTo>
                    <a:pt x="2341706" y="849961"/>
                    <a:pt x="2330730" y="854508"/>
                    <a:pt x="2319284" y="854508"/>
                  </a:cubicBezTo>
                  <a:lnTo>
                    <a:pt x="43155" y="854508"/>
                  </a:lnTo>
                  <a:cubicBezTo>
                    <a:pt x="31710" y="854508"/>
                    <a:pt x="20733" y="849961"/>
                    <a:pt x="12640" y="841868"/>
                  </a:cubicBezTo>
                  <a:cubicBezTo>
                    <a:pt x="4547" y="833775"/>
                    <a:pt x="0" y="822798"/>
                    <a:pt x="0" y="811353"/>
                  </a:cubicBezTo>
                  <a:lnTo>
                    <a:pt x="0" y="43155"/>
                  </a:lnTo>
                  <a:cubicBezTo>
                    <a:pt x="0" y="31710"/>
                    <a:pt x="4547" y="20733"/>
                    <a:pt x="12640" y="12640"/>
                  </a:cubicBezTo>
                  <a:cubicBezTo>
                    <a:pt x="20733" y="4547"/>
                    <a:pt x="31710" y="0"/>
                    <a:pt x="43155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62439" cy="892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889006" y="9258300"/>
            <a:ext cx="24066013" cy="1630186"/>
            <a:chOff x="0" y="0"/>
            <a:chExt cx="6338374" cy="4293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38374" cy="429349"/>
            </a:xfrm>
            <a:custGeom>
              <a:avLst/>
              <a:gdLst/>
              <a:ahLst/>
              <a:cxnLst/>
              <a:rect r="r" b="b" t="t" l="l"/>
              <a:pathLst>
                <a:path h="429349" w="6338374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3186954"/>
            <a:ext cx="13926768" cy="1795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9"/>
              </a:lnSpc>
            </a:pPr>
            <a:r>
              <a:rPr lang="en-US" sz="4833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STATISTICAL</a:t>
            </a:r>
          </a:p>
          <a:p>
            <a:pPr algn="l" marL="0" indent="0" lvl="0">
              <a:lnSpc>
                <a:spcPts val="4639"/>
              </a:lnSpc>
            </a:pPr>
            <a:r>
              <a:rPr lang="en-US" sz="4833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ANALYSIS –</a:t>
            </a:r>
          </a:p>
          <a:p>
            <a:pPr algn="l" marL="0" indent="0" lvl="0">
              <a:lnSpc>
                <a:spcPts val="4639"/>
              </a:lnSpc>
            </a:pPr>
            <a:r>
              <a:rPr lang="en-US" sz="4833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WELCH'S T-TEST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19027" y="5606650"/>
            <a:ext cx="8479559" cy="651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6"/>
              </a:lnSpc>
            </a:pPr>
            <a:r>
              <a:rPr lang="en-US" b="true" sz="3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Monthly Charges: Key Differentiator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19027" y="6371231"/>
            <a:ext cx="7514966" cy="172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64"/>
              </a:lnSpc>
            </a:pPr>
            <a:r>
              <a:rPr lang="en-US" sz="197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Welch's t-test reveals a statistically significant difference in monthly charges between churned and retained customers (t = 16.48, p &lt; 0.001). Churned customers pay higher monthly charges on average, indicating pricing sensitivity as a primary churn driver.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443370" y="982752"/>
            <a:ext cx="8609597" cy="7820850"/>
          </a:xfrm>
          <a:prstGeom prst="rect">
            <a:avLst/>
          </a:prstGeom>
        </p:spPr>
      </p:pic>
      <p:sp>
        <p:nvSpPr>
          <p:cNvPr name="Freeform 15" id="15"/>
          <p:cNvSpPr/>
          <p:nvPr/>
        </p:nvSpPr>
        <p:spPr>
          <a:xfrm flipH="false" flipV="false" rot="0">
            <a:off x="-300180" y="187141"/>
            <a:ext cx="2223204" cy="2263082"/>
          </a:xfrm>
          <a:custGeom>
            <a:avLst/>
            <a:gdLst/>
            <a:ahLst/>
            <a:cxnLst/>
            <a:rect r="r" b="b" t="t" l="l"/>
            <a:pathLst>
              <a:path h="2263082" w="2223204">
                <a:moveTo>
                  <a:pt x="0" y="0"/>
                </a:moveTo>
                <a:lnTo>
                  <a:pt x="2223204" y="0"/>
                </a:lnTo>
                <a:lnTo>
                  <a:pt x="2223204" y="2263082"/>
                </a:lnTo>
                <a:lnTo>
                  <a:pt x="0" y="22630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3143296" y="693639"/>
            <a:ext cx="1314030" cy="1883914"/>
          </a:xfrm>
          <a:custGeom>
            <a:avLst/>
            <a:gdLst/>
            <a:ahLst/>
            <a:cxnLst/>
            <a:rect r="r" b="b" t="t" l="l"/>
            <a:pathLst>
              <a:path h="1883914" w="1314030">
                <a:moveTo>
                  <a:pt x="0" y="0"/>
                </a:moveTo>
                <a:lnTo>
                  <a:pt x="1314030" y="0"/>
                </a:lnTo>
                <a:lnTo>
                  <a:pt x="1314030" y="1883914"/>
                </a:lnTo>
                <a:lnTo>
                  <a:pt x="0" y="1883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6025177">
            <a:off x="7888706" y="780666"/>
            <a:ext cx="1185983" cy="1700334"/>
          </a:xfrm>
          <a:custGeom>
            <a:avLst/>
            <a:gdLst/>
            <a:ahLst/>
            <a:cxnLst/>
            <a:rect r="r" b="b" t="t" l="l"/>
            <a:pathLst>
              <a:path h="1700334" w="1185983">
                <a:moveTo>
                  <a:pt x="0" y="0"/>
                </a:moveTo>
                <a:lnTo>
                  <a:pt x="1185983" y="0"/>
                </a:lnTo>
                <a:lnTo>
                  <a:pt x="1185983" y="1700335"/>
                </a:lnTo>
                <a:lnTo>
                  <a:pt x="0" y="17003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2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34441" y="0"/>
            <a:ext cx="20556882" cy="10287000"/>
            <a:chOff x="0" y="0"/>
            <a:chExt cx="2740917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93176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86329" y="4471770"/>
            <a:ext cx="7272971" cy="663002"/>
            <a:chOff x="0" y="0"/>
            <a:chExt cx="1915515" cy="1746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15515" cy="174618"/>
            </a:xfrm>
            <a:custGeom>
              <a:avLst/>
              <a:gdLst/>
              <a:ahLst/>
              <a:cxnLst/>
              <a:rect r="r" b="b" t="t" l="l"/>
              <a:pathLst>
                <a:path h="174618" w="1915515">
                  <a:moveTo>
                    <a:pt x="29805" y="0"/>
                  </a:moveTo>
                  <a:lnTo>
                    <a:pt x="1885710" y="0"/>
                  </a:lnTo>
                  <a:cubicBezTo>
                    <a:pt x="1902171" y="0"/>
                    <a:pt x="1915515" y="13344"/>
                    <a:pt x="1915515" y="29805"/>
                  </a:cubicBezTo>
                  <a:lnTo>
                    <a:pt x="1915515" y="144812"/>
                  </a:lnTo>
                  <a:cubicBezTo>
                    <a:pt x="1915515" y="152717"/>
                    <a:pt x="1912375" y="160298"/>
                    <a:pt x="1906785" y="165888"/>
                  </a:cubicBezTo>
                  <a:cubicBezTo>
                    <a:pt x="1901196" y="171478"/>
                    <a:pt x="1893615" y="174618"/>
                    <a:pt x="1885710" y="174618"/>
                  </a:cubicBezTo>
                  <a:lnTo>
                    <a:pt x="29805" y="174618"/>
                  </a:lnTo>
                  <a:cubicBezTo>
                    <a:pt x="21901" y="174618"/>
                    <a:pt x="14319" y="171478"/>
                    <a:pt x="8730" y="165888"/>
                  </a:cubicBezTo>
                  <a:cubicBezTo>
                    <a:pt x="3140" y="160298"/>
                    <a:pt x="0" y="152717"/>
                    <a:pt x="0" y="144812"/>
                  </a:cubicBezTo>
                  <a:lnTo>
                    <a:pt x="0" y="29805"/>
                  </a:lnTo>
                  <a:cubicBezTo>
                    <a:pt x="0" y="21901"/>
                    <a:pt x="3140" y="14319"/>
                    <a:pt x="8730" y="8730"/>
                  </a:cubicBezTo>
                  <a:cubicBezTo>
                    <a:pt x="14319" y="3140"/>
                    <a:pt x="21901" y="0"/>
                    <a:pt x="29805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15515" cy="212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86329" y="5325272"/>
            <a:ext cx="7272971" cy="694971"/>
            <a:chOff x="0" y="0"/>
            <a:chExt cx="1915515" cy="1830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15515" cy="183038"/>
            </a:xfrm>
            <a:custGeom>
              <a:avLst/>
              <a:gdLst/>
              <a:ahLst/>
              <a:cxnLst/>
              <a:rect r="r" b="b" t="t" l="l"/>
              <a:pathLst>
                <a:path h="183038" w="1915515">
                  <a:moveTo>
                    <a:pt x="29805" y="0"/>
                  </a:moveTo>
                  <a:lnTo>
                    <a:pt x="1885710" y="0"/>
                  </a:lnTo>
                  <a:cubicBezTo>
                    <a:pt x="1902171" y="0"/>
                    <a:pt x="1915515" y="13344"/>
                    <a:pt x="1915515" y="29805"/>
                  </a:cubicBezTo>
                  <a:lnTo>
                    <a:pt x="1915515" y="153232"/>
                  </a:lnTo>
                  <a:cubicBezTo>
                    <a:pt x="1915515" y="161137"/>
                    <a:pt x="1912375" y="168718"/>
                    <a:pt x="1906785" y="174308"/>
                  </a:cubicBezTo>
                  <a:cubicBezTo>
                    <a:pt x="1901196" y="179897"/>
                    <a:pt x="1893615" y="183038"/>
                    <a:pt x="1885710" y="183038"/>
                  </a:cubicBezTo>
                  <a:lnTo>
                    <a:pt x="29805" y="183038"/>
                  </a:lnTo>
                  <a:cubicBezTo>
                    <a:pt x="13344" y="183038"/>
                    <a:pt x="0" y="169693"/>
                    <a:pt x="0" y="153232"/>
                  </a:cubicBezTo>
                  <a:lnTo>
                    <a:pt x="0" y="29805"/>
                  </a:lnTo>
                  <a:cubicBezTo>
                    <a:pt x="0" y="21901"/>
                    <a:pt x="3140" y="14319"/>
                    <a:pt x="8730" y="8730"/>
                  </a:cubicBezTo>
                  <a:cubicBezTo>
                    <a:pt x="14319" y="3140"/>
                    <a:pt x="21901" y="0"/>
                    <a:pt x="29805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15515" cy="221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889006" y="9258300"/>
            <a:ext cx="24066013" cy="1630186"/>
            <a:chOff x="0" y="0"/>
            <a:chExt cx="6338374" cy="4293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38374" cy="429349"/>
            </a:xfrm>
            <a:custGeom>
              <a:avLst/>
              <a:gdLst/>
              <a:ahLst/>
              <a:cxnLst/>
              <a:rect r="r" b="b" t="t" l="l"/>
              <a:pathLst>
                <a:path h="429349" w="6338374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986329" y="6178774"/>
            <a:ext cx="7579777" cy="663002"/>
            <a:chOff x="0" y="0"/>
            <a:chExt cx="1996320" cy="1746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96320" cy="174618"/>
            </a:xfrm>
            <a:custGeom>
              <a:avLst/>
              <a:gdLst/>
              <a:ahLst/>
              <a:cxnLst/>
              <a:rect r="r" b="b" t="t" l="l"/>
              <a:pathLst>
                <a:path h="174618" w="1996320">
                  <a:moveTo>
                    <a:pt x="28599" y="0"/>
                  </a:moveTo>
                  <a:lnTo>
                    <a:pt x="1967721" y="0"/>
                  </a:lnTo>
                  <a:cubicBezTo>
                    <a:pt x="1975306" y="0"/>
                    <a:pt x="1982580" y="3013"/>
                    <a:pt x="1987943" y="8376"/>
                  </a:cubicBezTo>
                  <a:cubicBezTo>
                    <a:pt x="1993307" y="13740"/>
                    <a:pt x="1996320" y="21014"/>
                    <a:pt x="1996320" y="28599"/>
                  </a:cubicBezTo>
                  <a:lnTo>
                    <a:pt x="1996320" y="146019"/>
                  </a:lnTo>
                  <a:cubicBezTo>
                    <a:pt x="1996320" y="161814"/>
                    <a:pt x="1983516" y="174618"/>
                    <a:pt x="1967721" y="174618"/>
                  </a:cubicBezTo>
                  <a:lnTo>
                    <a:pt x="28599" y="174618"/>
                  </a:lnTo>
                  <a:cubicBezTo>
                    <a:pt x="21014" y="174618"/>
                    <a:pt x="13740" y="171605"/>
                    <a:pt x="8376" y="166241"/>
                  </a:cubicBezTo>
                  <a:cubicBezTo>
                    <a:pt x="3013" y="160878"/>
                    <a:pt x="0" y="153604"/>
                    <a:pt x="0" y="146019"/>
                  </a:cubicBezTo>
                  <a:lnTo>
                    <a:pt x="0" y="28599"/>
                  </a:lnTo>
                  <a:cubicBezTo>
                    <a:pt x="0" y="21014"/>
                    <a:pt x="3013" y="13740"/>
                    <a:pt x="8376" y="8376"/>
                  </a:cubicBezTo>
                  <a:cubicBezTo>
                    <a:pt x="13740" y="3013"/>
                    <a:pt x="21014" y="0"/>
                    <a:pt x="28599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96320" cy="212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86329" y="7032275"/>
            <a:ext cx="7272971" cy="678710"/>
            <a:chOff x="0" y="0"/>
            <a:chExt cx="1915515" cy="17875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15515" cy="178755"/>
            </a:xfrm>
            <a:custGeom>
              <a:avLst/>
              <a:gdLst/>
              <a:ahLst/>
              <a:cxnLst/>
              <a:rect r="r" b="b" t="t" l="l"/>
              <a:pathLst>
                <a:path h="178755" w="1915515">
                  <a:moveTo>
                    <a:pt x="29805" y="0"/>
                  </a:moveTo>
                  <a:lnTo>
                    <a:pt x="1885710" y="0"/>
                  </a:lnTo>
                  <a:cubicBezTo>
                    <a:pt x="1902171" y="0"/>
                    <a:pt x="1915515" y="13344"/>
                    <a:pt x="1915515" y="29805"/>
                  </a:cubicBezTo>
                  <a:lnTo>
                    <a:pt x="1915515" y="148950"/>
                  </a:lnTo>
                  <a:cubicBezTo>
                    <a:pt x="1915515" y="156854"/>
                    <a:pt x="1912375" y="164436"/>
                    <a:pt x="1906785" y="170025"/>
                  </a:cubicBezTo>
                  <a:cubicBezTo>
                    <a:pt x="1901196" y="175615"/>
                    <a:pt x="1893615" y="178755"/>
                    <a:pt x="1885710" y="178755"/>
                  </a:cubicBezTo>
                  <a:lnTo>
                    <a:pt x="29805" y="178755"/>
                  </a:lnTo>
                  <a:cubicBezTo>
                    <a:pt x="21901" y="178755"/>
                    <a:pt x="14319" y="175615"/>
                    <a:pt x="8730" y="170025"/>
                  </a:cubicBezTo>
                  <a:cubicBezTo>
                    <a:pt x="3140" y="164436"/>
                    <a:pt x="0" y="156854"/>
                    <a:pt x="0" y="148950"/>
                  </a:cubicBezTo>
                  <a:lnTo>
                    <a:pt x="0" y="29805"/>
                  </a:lnTo>
                  <a:cubicBezTo>
                    <a:pt x="0" y="21901"/>
                    <a:pt x="3140" y="14319"/>
                    <a:pt x="8730" y="8730"/>
                  </a:cubicBezTo>
                  <a:cubicBezTo>
                    <a:pt x="14319" y="3140"/>
                    <a:pt x="21901" y="0"/>
                    <a:pt x="29805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15515" cy="216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986329" y="7885777"/>
            <a:ext cx="7579777" cy="667600"/>
            <a:chOff x="0" y="0"/>
            <a:chExt cx="1996320" cy="1758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96320" cy="175829"/>
            </a:xfrm>
            <a:custGeom>
              <a:avLst/>
              <a:gdLst/>
              <a:ahLst/>
              <a:cxnLst/>
              <a:rect r="r" b="b" t="t" l="l"/>
              <a:pathLst>
                <a:path h="175829" w="1996320">
                  <a:moveTo>
                    <a:pt x="28599" y="0"/>
                  </a:moveTo>
                  <a:lnTo>
                    <a:pt x="1967721" y="0"/>
                  </a:lnTo>
                  <a:cubicBezTo>
                    <a:pt x="1975306" y="0"/>
                    <a:pt x="1982580" y="3013"/>
                    <a:pt x="1987943" y="8376"/>
                  </a:cubicBezTo>
                  <a:cubicBezTo>
                    <a:pt x="1993307" y="13740"/>
                    <a:pt x="1996320" y="21014"/>
                    <a:pt x="1996320" y="28599"/>
                  </a:cubicBezTo>
                  <a:lnTo>
                    <a:pt x="1996320" y="147230"/>
                  </a:lnTo>
                  <a:cubicBezTo>
                    <a:pt x="1996320" y="154815"/>
                    <a:pt x="1993307" y="162089"/>
                    <a:pt x="1987943" y="167452"/>
                  </a:cubicBezTo>
                  <a:cubicBezTo>
                    <a:pt x="1982580" y="172816"/>
                    <a:pt x="1975306" y="175829"/>
                    <a:pt x="1967721" y="175829"/>
                  </a:cubicBezTo>
                  <a:lnTo>
                    <a:pt x="28599" y="175829"/>
                  </a:lnTo>
                  <a:cubicBezTo>
                    <a:pt x="21014" y="175829"/>
                    <a:pt x="13740" y="172816"/>
                    <a:pt x="8376" y="167452"/>
                  </a:cubicBezTo>
                  <a:cubicBezTo>
                    <a:pt x="3013" y="162089"/>
                    <a:pt x="0" y="154815"/>
                    <a:pt x="0" y="147230"/>
                  </a:cubicBezTo>
                  <a:lnTo>
                    <a:pt x="0" y="28599"/>
                  </a:lnTo>
                  <a:cubicBezTo>
                    <a:pt x="0" y="21014"/>
                    <a:pt x="3013" y="13740"/>
                    <a:pt x="8376" y="8376"/>
                  </a:cubicBezTo>
                  <a:cubicBezTo>
                    <a:pt x="13740" y="3013"/>
                    <a:pt x="21014" y="0"/>
                    <a:pt x="28599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96320" cy="213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30146" y="4588747"/>
            <a:ext cx="472735" cy="47273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30146" y="5431867"/>
            <a:ext cx="472735" cy="47273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30146" y="6274987"/>
            <a:ext cx="472735" cy="47273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30146" y="7118106"/>
            <a:ext cx="472735" cy="47273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30146" y="7961226"/>
            <a:ext cx="472735" cy="472735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677732" y="1885502"/>
            <a:ext cx="8233163" cy="7310115"/>
          </a:xfrm>
          <a:custGeom>
            <a:avLst/>
            <a:gdLst/>
            <a:ahLst/>
            <a:cxnLst/>
            <a:rect r="r" b="b" t="t" l="l"/>
            <a:pathLst>
              <a:path h="7310115" w="8233163">
                <a:moveTo>
                  <a:pt x="0" y="0"/>
                </a:moveTo>
                <a:lnTo>
                  <a:pt x="8233163" y="0"/>
                </a:lnTo>
                <a:lnTo>
                  <a:pt x="8233163" y="7310115"/>
                </a:lnTo>
                <a:lnTo>
                  <a:pt x="0" y="7310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-8624752">
            <a:off x="785499" y="3828383"/>
            <a:ext cx="1085674" cy="1556523"/>
          </a:xfrm>
          <a:custGeom>
            <a:avLst/>
            <a:gdLst/>
            <a:ahLst/>
            <a:cxnLst/>
            <a:rect r="r" b="b" t="t" l="l"/>
            <a:pathLst>
              <a:path h="1556523" w="1085674">
                <a:moveTo>
                  <a:pt x="0" y="0"/>
                </a:moveTo>
                <a:lnTo>
                  <a:pt x="1085675" y="0"/>
                </a:lnTo>
                <a:lnTo>
                  <a:pt x="1085675" y="1556523"/>
                </a:lnTo>
                <a:lnTo>
                  <a:pt x="0" y="15565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3736269">
            <a:off x="7443072" y="6750963"/>
            <a:ext cx="856381" cy="1227787"/>
          </a:xfrm>
          <a:custGeom>
            <a:avLst/>
            <a:gdLst/>
            <a:ahLst/>
            <a:cxnLst/>
            <a:rect r="r" b="b" t="t" l="l"/>
            <a:pathLst>
              <a:path h="1227787" w="856381">
                <a:moveTo>
                  <a:pt x="0" y="0"/>
                </a:moveTo>
                <a:lnTo>
                  <a:pt x="856381" y="0"/>
                </a:lnTo>
                <a:lnTo>
                  <a:pt x="856381" y="1227786"/>
                </a:lnTo>
                <a:lnTo>
                  <a:pt x="0" y="12277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-214925" y="913009"/>
            <a:ext cx="2836131" cy="2723505"/>
          </a:xfrm>
          <a:custGeom>
            <a:avLst/>
            <a:gdLst/>
            <a:ahLst/>
            <a:cxnLst/>
            <a:rect r="r" b="b" t="t" l="l"/>
            <a:pathLst>
              <a:path h="2723505" w="2836131">
                <a:moveTo>
                  <a:pt x="0" y="0"/>
                </a:moveTo>
                <a:lnTo>
                  <a:pt x="2836132" y="0"/>
                </a:lnTo>
                <a:lnTo>
                  <a:pt x="2836132" y="2723505"/>
                </a:lnTo>
                <a:lnTo>
                  <a:pt x="0" y="27235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9330146" y="1559026"/>
            <a:ext cx="8957854" cy="773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65"/>
              </a:lnSpc>
            </a:pPr>
            <a:r>
              <a:rPr lang="en-US" sz="600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KEY PATTERNS IDENTIFIED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358897" y="2705836"/>
            <a:ext cx="8929103" cy="128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6"/>
              </a:lnSpc>
            </a:pPr>
            <a:r>
              <a:rPr lang="en-US" b="true" sz="3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Behavioral &amp; Demographic</a:t>
            </a:r>
          </a:p>
          <a:p>
            <a:pPr algn="l" marL="0" indent="0" lvl="0">
              <a:lnSpc>
                <a:spcPts val="5036"/>
              </a:lnSpc>
            </a:pPr>
            <a:r>
              <a:rPr lang="en-US" b="true" sz="3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Differences (Part 1)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7612064">
            <a:off x="17420867" y="2450918"/>
            <a:ext cx="1085674" cy="1556523"/>
          </a:xfrm>
          <a:custGeom>
            <a:avLst/>
            <a:gdLst/>
            <a:ahLst/>
            <a:cxnLst/>
            <a:rect r="r" b="b" t="t" l="l"/>
            <a:pathLst>
              <a:path h="1556523" w="1085674">
                <a:moveTo>
                  <a:pt x="0" y="0"/>
                </a:moveTo>
                <a:lnTo>
                  <a:pt x="1085675" y="0"/>
                </a:lnTo>
                <a:lnTo>
                  <a:pt x="1085675" y="1556522"/>
                </a:lnTo>
                <a:lnTo>
                  <a:pt x="0" y="15565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9986329" y="4549495"/>
            <a:ext cx="7579777" cy="374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78"/>
              </a:lnSpc>
            </a:pPr>
            <a:r>
              <a:rPr lang="en-US" sz="21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Churned customers have significantly shorter tenure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221981" y="5402996"/>
            <a:ext cx="7344124" cy="374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78"/>
              </a:lnSpc>
            </a:pPr>
            <a:r>
              <a:rPr lang="en-US" sz="21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Early-stage customers are at the highest churn risk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986329" y="6256498"/>
            <a:ext cx="7579777" cy="374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78"/>
              </a:lnSpc>
            </a:pPr>
            <a:r>
              <a:rPr lang="en-US" sz="21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Month-to-month contracts show the highest churn rate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390267" y="7109999"/>
            <a:ext cx="7175839" cy="374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78"/>
              </a:lnSpc>
            </a:pPr>
            <a:r>
              <a:rPr lang="en-US" sz="21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Long-term contracts strongly linked to retention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986329" y="7963501"/>
            <a:ext cx="7579777" cy="374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78"/>
              </a:lnSpc>
            </a:pPr>
            <a:r>
              <a:rPr lang="en-US" sz="21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Retained customers accumulate higher total charges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2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34441" y="0"/>
            <a:ext cx="20556882" cy="10287000"/>
            <a:chOff x="0" y="0"/>
            <a:chExt cx="2740917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93176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86329" y="4471770"/>
            <a:ext cx="7579777" cy="663002"/>
            <a:chOff x="0" y="0"/>
            <a:chExt cx="1996320" cy="1746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96320" cy="174618"/>
            </a:xfrm>
            <a:custGeom>
              <a:avLst/>
              <a:gdLst/>
              <a:ahLst/>
              <a:cxnLst/>
              <a:rect r="r" b="b" t="t" l="l"/>
              <a:pathLst>
                <a:path h="174618" w="1996320">
                  <a:moveTo>
                    <a:pt x="28599" y="0"/>
                  </a:moveTo>
                  <a:lnTo>
                    <a:pt x="1967721" y="0"/>
                  </a:lnTo>
                  <a:cubicBezTo>
                    <a:pt x="1975306" y="0"/>
                    <a:pt x="1982580" y="3013"/>
                    <a:pt x="1987943" y="8376"/>
                  </a:cubicBezTo>
                  <a:cubicBezTo>
                    <a:pt x="1993307" y="13740"/>
                    <a:pt x="1996320" y="21014"/>
                    <a:pt x="1996320" y="28599"/>
                  </a:cubicBezTo>
                  <a:lnTo>
                    <a:pt x="1996320" y="146019"/>
                  </a:lnTo>
                  <a:cubicBezTo>
                    <a:pt x="1996320" y="161814"/>
                    <a:pt x="1983516" y="174618"/>
                    <a:pt x="1967721" y="174618"/>
                  </a:cubicBezTo>
                  <a:lnTo>
                    <a:pt x="28599" y="174618"/>
                  </a:lnTo>
                  <a:cubicBezTo>
                    <a:pt x="21014" y="174618"/>
                    <a:pt x="13740" y="171605"/>
                    <a:pt x="8376" y="166241"/>
                  </a:cubicBezTo>
                  <a:cubicBezTo>
                    <a:pt x="3013" y="160878"/>
                    <a:pt x="0" y="153604"/>
                    <a:pt x="0" y="146019"/>
                  </a:cubicBezTo>
                  <a:lnTo>
                    <a:pt x="0" y="28599"/>
                  </a:lnTo>
                  <a:cubicBezTo>
                    <a:pt x="0" y="21014"/>
                    <a:pt x="3013" y="13740"/>
                    <a:pt x="8376" y="8376"/>
                  </a:cubicBezTo>
                  <a:cubicBezTo>
                    <a:pt x="13740" y="3013"/>
                    <a:pt x="21014" y="0"/>
                    <a:pt x="28599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96320" cy="212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86329" y="5325272"/>
            <a:ext cx="7579777" cy="663002"/>
            <a:chOff x="0" y="0"/>
            <a:chExt cx="1996320" cy="1746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6320" cy="174618"/>
            </a:xfrm>
            <a:custGeom>
              <a:avLst/>
              <a:gdLst/>
              <a:ahLst/>
              <a:cxnLst/>
              <a:rect r="r" b="b" t="t" l="l"/>
              <a:pathLst>
                <a:path h="174618" w="1996320">
                  <a:moveTo>
                    <a:pt x="28599" y="0"/>
                  </a:moveTo>
                  <a:lnTo>
                    <a:pt x="1967721" y="0"/>
                  </a:lnTo>
                  <a:cubicBezTo>
                    <a:pt x="1975306" y="0"/>
                    <a:pt x="1982580" y="3013"/>
                    <a:pt x="1987943" y="8376"/>
                  </a:cubicBezTo>
                  <a:cubicBezTo>
                    <a:pt x="1993307" y="13740"/>
                    <a:pt x="1996320" y="21014"/>
                    <a:pt x="1996320" y="28599"/>
                  </a:cubicBezTo>
                  <a:lnTo>
                    <a:pt x="1996320" y="146019"/>
                  </a:lnTo>
                  <a:cubicBezTo>
                    <a:pt x="1996320" y="161814"/>
                    <a:pt x="1983516" y="174618"/>
                    <a:pt x="1967721" y="174618"/>
                  </a:cubicBezTo>
                  <a:lnTo>
                    <a:pt x="28599" y="174618"/>
                  </a:lnTo>
                  <a:cubicBezTo>
                    <a:pt x="21014" y="174618"/>
                    <a:pt x="13740" y="171605"/>
                    <a:pt x="8376" y="166241"/>
                  </a:cubicBezTo>
                  <a:cubicBezTo>
                    <a:pt x="3013" y="160878"/>
                    <a:pt x="0" y="153604"/>
                    <a:pt x="0" y="146019"/>
                  </a:cubicBezTo>
                  <a:lnTo>
                    <a:pt x="0" y="28599"/>
                  </a:lnTo>
                  <a:cubicBezTo>
                    <a:pt x="0" y="21014"/>
                    <a:pt x="3013" y="13740"/>
                    <a:pt x="8376" y="8376"/>
                  </a:cubicBezTo>
                  <a:cubicBezTo>
                    <a:pt x="13740" y="3013"/>
                    <a:pt x="21014" y="0"/>
                    <a:pt x="28599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96320" cy="212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889006" y="9258300"/>
            <a:ext cx="24066013" cy="1630186"/>
            <a:chOff x="0" y="0"/>
            <a:chExt cx="6338374" cy="4293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38374" cy="429349"/>
            </a:xfrm>
            <a:custGeom>
              <a:avLst/>
              <a:gdLst/>
              <a:ahLst/>
              <a:cxnLst/>
              <a:rect r="r" b="b" t="t" l="l"/>
              <a:pathLst>
                <a:path h="429349" w="6338374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986329" y="6178774"/>
            <a:ext cx="7977376" cy="687257"/>
            <a:chOff x="0" y="0"/>
            <a:chExt cx="2101037" cy="1810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01037" cy="181006"/>
            </a:xfrm>
            <a:custGeom>
              <a:avLst/>
              <a:gdLst/>
              <a:ahLst/>
              <a:cxnLst/>
              <a:rect r="r" b="b" t="t" l="l"/>
              <a:pathLst>
                <a:path h="181006" w="2101037">
                  <a:moveTo>
                    <a:pt x="27174" y="0"/>
                  </a:moveTo>
                  <a:lnTo>
                    <a:pt x="2073864" y="0"/>
                  </a:lnTo>
                  <a:cubicBezTo>
                    <a:pt x="2081071" y="0"/>
                    <a:pt x="2087982" y="2863"/>
                    <a:pt x="2093078" y="7959"/>
                  </a:cubicBezTo>
                  <a:cubicBezTo>
                    <a:pt x="2098174" y="13055"/>
                    <a:pt x="2101037" y="19967"/>
                    <a:pt x="2101037" y="27174"/>
                  </a:cubicBezTo>
                  <a:lnTo>
                    <a:pt x="2101037" y="153832"/>
                  </a:lnTo>
                  <a:cubicBezTo>
                    <a:pt x="2101037" y="161039"/>
                    <a:pt x="2098174" y="167951"/>
                    <a:pt x="2093078" y="173047"/>
                  </a:cubicBezTo>
                  <a:cubicBezTo>
                    <a:pt x="2087982" y="178143"/>
                    <a:pt x="2081071" y="181006"/>
                    <a:pt x="2073864" y="181006"/>
                  </a:cubicBezTo>
                  <a:lnTo>
                    <a:pt x="27174" y="181006"/>
                  </a:lnTo>
                  <a:cubicBezTo>
                    <a:pt x="19967" y="181006"/>
                    <a:pt x="13055" y="178143"/>
                    <a:pt x="7959" y="173047"/>
                  </a:cubicBezTo>
                  <a:cubicBezTo>
                    <a:pt x="2863" y="167951"/>
                    <a:pt x="0" y="161039"/>
                    <a:pt x="0" y="153832"/>
                  </a:cubicBezTo>
                  <a:lnTo>
                    <a:pt x="0" y="27174"/>
                  </a:lnTo>
                  <a:cubicBezTo>
                    <a:pt x="0" y="19967"/>
                    <a:pt x="2863" y="13055"/>
                    <a:pt x="7959" y="7959"/>
                  </a:cubicBezTo>
                  <a:cubicBezTo>
                    <a:pt x="13055" y="2863"/>
                    <a:pt x="19967" y="0"/>
                    <a:pt x="27174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01037" cy="219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86329" y="7032275"/>
            <a:ext cx="7579777" cy="712831"/>
            <a:chOff x="0" y="0"/>
            <a:chExt cx="1996320" cy="1877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96320" cy="187741"/>
            </a:xfrm>
            <a:custGeom>
              <a:avLst/>
              <a:gdLst/>
              <a:ahLst/>
              <a:cxnLst/>
              <a:rect r="r" b="b" t="t" l="l"/>
              <a:pathLst>
                <a:path h="187741" w="1996320">
                  <a:moveTo>
                    <a:pt x="28599" y="0"/>
                  </a:moveTo>
                  <a:lnTo>
                    <a:pt x="1967721" y="0"/>
                  </a:lnTo>
                  <a:cubicBezTo>
                    <a:pt x="1975306" y="0"/>
                    <a:pt x="1982580" y="3013"/>
                    <a:pt x="1987943" y="8376"/>
                  </a:cubicBezTo>
                  <a:cubicBezTo>
                    <a:pt x="1993307" y="13740"/>
                    <a:pt x="1996320" y="21014"/>
                    <a:pt x="1996320" y="28599"/>
                  </a:cubicBezTo>
                  <a:lnTo>
                    <a:pt x="1996320" y="159143"/>
                  </a:lnTo>
                  <a:cubicBezTo>
                    <a:pt x="1996320" y="174937"/>
                    <a:pt x="1983516" y="187741"/>
                    <a:pt x="1967721" y="187741"/>
                  </a:cubicBezTo>
                  <a:lnTo>
                    <a:pt x="28599" y="187741"/>
                  </a:lnTo>
                  <a:cubicBezTo>
                    <a:pt x="21014" y="187741"/>
                    <a:pt x="13740" y="184728"/>
                    <a:pt x="8376" y="179365"/>
                  </a:cubicBezTo>
                  <a:cubicBezTo>
                    <a:pt x="3013" y="174002"/>
                    <a:pt x="0" y="166727"/>
                    <a:pt x="0" y="159143"/>
                  </a:cubicBezTo>
                  <a:lnTo>
                    <a:pt x="0" y="28599"/>
                  </a:lnTo>
                  <a:cubicBezTo>
                    <a:pt x="0" y="21014"/>
                    <a:pt x="3013" y="13740"/>
                    <a:pt x="8376" y="8376"/>
                  </a:cubicBezTo>
                  <a:cubicBezTo>
                    <a:pt x="13740" y="3013"/>
                    <a:pt x="21014" y="0"/>
                    <a:pt x="28599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96320" cy="225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986329" y="7885777"/>
            <a:ext cx="7579777" cy="681432"/>
            <a:chOff x="0" y="0"/>
            <a:chExt cx="1996320" cy="1794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96320" cy="179472"/>
            </a:xfrm>
            <a:custGeom>
              <a:avLst/>
              <a:gdLst/>
              <a:ahLst/>
              <a:cxnLst/>
              <a:rect r="r" b="b" t="t" l="l"/>
              <a:pathLst>
                <a:path h="179472" w="1996320">
                  <a:moveTo>
                    <a:pt x="28599" y="0"/>
                  </a:moveTo>
                  <a:lnTo>
                    <a:pt x="1967721" y="0"/>
                  </a:lnTo>
                  <a:cubicBezTo>
                    <a:pt x="1975306" y="0"/>
                    <a:pt x="1982580" y="3013"/>
                    <a:pt x="1987943" y="8376"/>
                  </a:cubicBezTo>
                  <a:cubicBezTo>
                    <a:pt x="1993307" y="13740"/>
                    <a:pt x="1996320" y="21014"/>
                    <a:pt x="1996320" y="28599"/>
                  </a:cubicBezTo>
                  <a:lnTo>
                    <a:pt x="1996320" y="150873"/>
                  </a:lnTo>
                  <a:cubicBezTo>
                    <a:pt x="1996320" y="166668"/>
                    <a:pt x="1983516" y="179472"/>
                    <a:pt x="1967721" y="179472"/>
                  </a:cubicBezTo>
                  <a:lnTo>
                    <a:pt x="28599" y="179472"/>
                  </a:lnTo>
                  <a:cubicBezTo>
                    <a:pt x="21014" y="179472"/>
                    <a:pt x="13740" y="176459"/>
                    <a:pt x="8376" y="171095"/>
                  </a:cubicBezTo>
                  <a:cubicBezTo>
                    <a:pt x="3013" y="165732"/>
                    <a:pt x="0" y="158458"/>
                    <a:pt x="0" y="150873"/>
                  </a:cubicBezTo>
                  <a:lnTo>
                    <a:pt x="0" y="28599"/>
                  </a:lnTo>
                  <a:cubicBezTo>
                    <a:pt x="0" y="21014"/>
                    <a:pt x="3013" y="13740"/>
                    <a:pt x="8376" y="8376"/>
                  </a:cubicBezTo>
                  <a:cubicBezTo>
                    <a:pt x="13740" y="3013"/>
                    <a:pt x="21014" y="0"/>
                    <a:pt x="28599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96320" cy="217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30146" y="4588747"/>
            <a:ext cx="472735" cy="47273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30146" y="5431867"/>
            <a:ext cx="472735" cy="47273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30146" y="6274987"/>
            <a:ext cx="472735" cy="47273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30146" y="7118106"/>
            <a:ext cx="472735" cy="47273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30146" y="7961226"/>
            <a:ext cx="472735" cy="472735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593896" y="1854938"/>
            <a:ext cx="8537002" cy="7384506"/>
          </a:xfrm>
          <a:custGeom>
            <a:avLst/>
            <a:gdLst/>
            <a:ahLst/>
            <a:cxnLst/>
            <a:rect r="r" b="b" t="t" l="l"/>
            <a:pathLst>
              <a:path h="7384506" w="8537002">
                <a:moveTo>
                  <a:pt x="0" y="0"/>
                </a:moveTo>
                <a:lnTo>
                  <a:pt x="8537001" y="0"/>
                </a:lnTo>
                <a:lnTo>
                  <a:pt x="8537001" y="7384507"/>
                </a:lnTo>
                <a:lnTo>
                  <a:pt x="0" y="73845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-8624752">
            <a:off x="785499" y="3828383"/>
            <a:ext cx="1085674" cy="1556523"/>
          </a:xfrm>
          <a:custGeom>
            <a:avLst/>
            <a:gdLst/>
            <a:ahLst/>
            <a:cxnLst/>
            <a:rect r="r" b="b" t="t" l="l"/>
            <a:pathLst>
              <a:path h="1556523" w="1085674">
                <a:moveTo>
                  <a:pt x="0" y="0"/>
                </a:moveTo>
                <a:lnTo>
                  <a:pt x="1085675" y="0"/>
                </a:lnTo>
                <a:lnTo>
                  <a:pt x="1085675" y="1556523"/>
                </a:lnTo>
                <a:lnTo>
                  <a:pt x="0" y="15565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3736269">
            <a:off x="7443072" y="6750963"/>
            <a:ext cx="856381" cy="1227787"/>
          </a:xfrm>
          <a:custGeom>
            <a:avLst/>
            <a:gdLst/>
            <a:ahLst/>
            <a:cxnLst/>
            <a:rect r="r" b="b" t="t" l="l"/>
            <a:pathLst>
              <a:path h="1227787" w="856381">
                <a:moveTo>
                  <a:pt x="0" y="0"/>
                </a:moveTo>
                <a:lnTo>
                  <a:pt x="856381" y="0"/>
                </a:lnTo>
                <a:lnTo>
                  <a:pt x="856381" y="1227786"/>
                </a:lnTo>
                <a:lnTo>
                  <a:pt x="0" y="12277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-530478" y="970814"/>
            <a:ext cx="3308543" cy="2567330"/>
          </a:xfrm>
          <a:custGeom>
            <a:avLst/>
            <a:gdLst/>
            <a:ahLst/>
            <a:cxnLst/>
            <a:rect r="r" b="b" t="t" l="l"/>
            <a:pathLst>
              <a:path h="2567330" w="3308543">
                <a:moveTo>
                  <a:pt x="0" y="0"/>
                </a:moveTo>
                <a:lnTo>
                  <a:pt x="3308543" y="0"/>
                </a:lnTo>
                <a:lnTo>
                  <a:pt x="3308543" y="2567330"/>
                </a:lnTo>
                <a:lnTo>
                  <a:pt x="0" y="25673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9330146" y="1559026"/>
            <a:ext cx="8957854" cy="902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39"/>
              </a:lnSpc>
            </a:pPr>
            <a:r>
              <a:rPr lang="en-US" sz="681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KEY PATTERNS (PART 2)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358897" y="2705836"/>
            <a:ext cx="8929103" cy="128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6"/>
              </a:lnSpc>
            </a:pPr>
            <a:r>
              <a:rPr lang="en-US" b="true" sz="3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Additional Correlations &amp;</a:t>
            </a:r>
          </a:p>
          <a:p>
            <a:pPr algn="l" marL="0" indent="0" lvl="0">
              <a:lnSpc>
                <a:spcPts val="5036"/>
              </a:lnSpc>
            </a:pPr>
            <a:r>
              <a:rPr lang="en-US" b="true" sz="3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Churn Insights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7612064">
            <a:off x="17420867" y="2450918"/>
            <a:ext cx="1085674" cy="1556523"/>
          </a:xfrm>
          <a:custGeom>
            <a:avLst/>
            <a:gdLst/>
            <a:ahLst/>
            <a:cxnLst/>
            <a:rect r="r" b="b" t="t" l="l"/>
            <a:pathLst>
              <a:path h="1556523" w="1085674">
                <a:moveTo>
                  <a:pt x="0" y="0"/>
                </a:moveTo>
                <a:lnTo>
                  <a:pt x="1085675" y="0"/>
                </a:lnTo>
                <a:lnTo>
                  <a:pt x="1085675" y="1556522"/>
                </a:lnTo>
                <a:lnTo>
                  <a:pt x="0" y="15565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0390267" y="4549495"/>
            <a:ext cx="7175839" cy="33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5"/>
              </a:lnSpc>
            </a:pPr>
            <a:r>
              <a:rPr lang="en-US" sz="18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Churned customers have higher average monthly charges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390267" y="5402996"/>
            <a:ext cx="7175839" cy="33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5"/>
              </a:lnSpc>
            </a:pPr>
            <a:r>
              <a:rPr lang="en-US" sz="18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Strong correlation: tenure vs. total charges (r = 0.83)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153536" y="6266023"/>
            <a:ext cx="7412570" cy="612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65"/>
              </a:lnSpc>
            </a:pPr>
            <a:r>
              <a:rPr lang="en-US" sz="17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Longer tenure customers generate significantly higher total revenue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390267" y="7119524"/>
            <a:ext cx="7175839" cy="30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65"/>
              </a:lnSpc>
            </a:pPr>
            <a:r>
              <a:rPr lang="en-US" sz="17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 monthly charges signal elevated churn risk segments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390267" y="7973026"/>
            <a:ext cx="7175839" cy="30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65"/>
              </a:lnSpc>
            </a:pPr>
            <a:r>
              <a:rPr lang="en-US" sz="17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Tenure is the strongest predictor of customer lifetime value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2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34441" y="0"/>
            <a:ext cx="20556882" cy="10287000"/>
            <a:chOff x="0" y="0"/>
            <a:chExt cx="2740917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93176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2889006" y="9258300"/>
            <a:ext cx="24066013" cy="1630186"/>
            <a:chOff x="0" y="0"/>
            <a:chExt cx="6338374" cy="4293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38374" cy="429349"/>
            </a:xfrm>
            <a:custGeom>
              <a:avLst/>
              <a:gdLst/>
              <a:ahLst/>
              <a:cxnLst/>
              <a:rect r="r" b="b" t="t" l="l"/>
              <a:pathLst>
                <a:path h="429349" w="6338374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4883" y="4293652"/>
            <a:ext cx="11488550" cy="622120"/>
            <a:chOff x="0" y="0"/>
            <a:chExt cx="3025791" cy="1638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25791" cy="163851"/>
            </a:xfrm>
            <a:custGeom>
              <a:avLst/>
              <a:gdLst/>
              <a:ahLst/>
              <a:cxnLst/>
              <a:rect r="r" b="b" t="t" l="l"/>
              <a:pathLst>
                <a:path h="163851" w="3025791">
                  <a:moveTo>
                    <a:pt x="18869" y="0"/>
                  </a:moveTo>
                  <a:lnTo>
                    <a:pt x="3006922" y="0"/>
                  </a:lnTo>
                  <a:cubicBezTo>
                    <a:pt x="3017343" y="0"/>
                    <a:pt x="3025791" y="8448"/>
                    <a:pt x="3025791" y="18869"/>
                  </a:cubicBezTo>
                  <a:lnTo>
                    <a:pt x="3025791" y="144982"/>
                  </a:lnTo>
                  <a:cubicBezTo>
                    <a:pt x="3025791" y="155403"/>
                    <a:pt x="3017343" y="163851"/>
                    <a:pt x="3006922" y="163851"/>
                  </a:cubicBezTo>
                  <a:lnTo>
                    <a:pt x="18869" y="163851"/>
                  </a:lnTo>
                  <a:cubicBezTo>
                    <a:pt x="8448" y="163851"/>
                    <a:pt x="0" y="155403"/>
                    <a:pt x="0" y="144982"/>
                  </a:cubicBezTo>
                  <a:lnTo>
                    <a:pt x="0" y="18869"/>
                  </a:lnTo>
                  <a:cubicBezTo>
                    <a:pt x="0" y="8448"/>
                    <a:pt x="8448" y="0"/>
                    <a:pt x="18869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025791" cy="20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4883" y="5147154"/>
            <a:ext cx="10821399" cy="686683"/>
            <a:chOff x="0" y="0"/>
            <a:chExt cx="2850080" cy="1808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50080" cy="180855"/>
            </a:xfrm>
            <a:custGeom>
              <a:avLst/>
              <a:gdLst/>
              <a:ahLst/>
              <a:cxnLst/>
              <a:rect r="r" b="b" t="t" l="l"/>
              <a:pathLst>
                <a:path h="180855" w="2850080">
                  <a:moveTo>
                    <a:pt x="20032" y="0"/>
                  </a:moveTo>
                  <a:lnTo>
                    <a:pt x="2830048" y="0"/>
                  </a:lnTo>
                  <a:cubicBezTo>
                    <a:pt x="2841112" y="0"/>
                    <a:pt x="2850080" y="8969"/>
                    <a:pt x="2850080" y="20032"/>
                  </a:cubicBezTo>
                  <a:lnTo>
                    <a:pt x="2850080" y="160823"/>
                  </a:lnTo>
                  <a:cubicBezTo>
                    <a:pt x="2850080" y="171886"/>
                    <a:pt x="2841112" y="180855"/>
                    <a:pt x="2830048" y="180855"/>
                  </a:cubicBezTo>
                  <a:lnTo>
                    <a:pt x="20032" y="180855"/>
                  </a:lnTo>
                  <a:cubicBezTo>
                    <a:pt x="8969" y="180855"/>
                    <a:pt x="0" y="171886"/>
                    <a:pt x="0" y="160823"/>
                  </a:cubicBezTo>
                  <a:lnTo>
                    <a:pt x="0" y="20032"/>
                  </a:lnTo>
                  <a:cubicBezTo>
                    <a:pt x="0" y="8969"/>
                    <a:pt x="8969" y="0"/>
                    <a:pt x="20032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50080" cy="218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84883" y="6000656"/>
            <a:ext cx="10003601" cy="708204"/>
            <a:chOff x="0" y="0"/>
            <a:chExt cx="2634693" cy="1865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34693" cy="186523"/>
            </a:xfrm>
            <a:custGeom>
              <a:avLst/>
              <a:gdLst/>
              <a:ahLst/>
              <a:cxnLst/>
              <a:rect r="r" b="b" t="t" l="l"/>
              <a:pathLst>
                <a:path h="186523" w="2634693">
                  <a:moveTo>
                    <a:pt x="21670" y="0"/>
                  </a:moveTo>
                  <a:lnTo>
                    <a:pt x="2613024" y="0"/>
                  </a:lnTo>
                  <a:cubicBezTo>
                    <a:pt x="2618771" y="0"/>
                    <a:pt x="2624283" y="2283"/>
                    <a:pt x="2628347" y="6347"/>
                  </a:cubicBezTo>
                  <a:cubicBezTo>
                    <a:pt x="2632410" y="10411"/>
                    <a:pt x="2634693" y="15922"/>
                    <a:pt x="2634693" y="21670"/>
                  </a:cubicBezTo>
                  <a:lnTo>
                    <a:pt x="2634693" y="164853"/>
                  </a:lnTo>
                  <a:cubicBezTo>
                    <a:pt x="2634693" y="176821"/>
                    <a:pt x="2624992" y="186523"/>
                    <a:pt x="2613024" y="186523"/>
                  </a:cubicBezTo>
                  <a:lnTo>
                    <a:pt x="21670" y="186523"/>
                  </a:lnTo>
                  <a:cubicBezTo>
                    <a:pt x="15922" y="186523"/>
                    <a:pt x="10411" y="184240"/>
                    <a:pt x="6347" y="180176"/>
                  </a:cubicBezTo>
                  <a:cubicBezTo>
                    <a:pt x="2283" y="176112"/>
                    <a:pt x="0" y="170600"/>
                    <a:pt x="0" y="164853"/>
                  </a:cubicBezTo>
                  <a:lnTo>
                    <a:pt x="0" y="21670"/>
                  </a:lnTo>
                  <a:cubicBezTo>
                    <a:pt x="0" y="9702"/>
                    <a:pt x="9702" y="0"/>
                    <a:pt x="21670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634693" cy="224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84883" y="6854157"/>
            <a:ext cx="10412500" cy="751246"/>
            <a:chOff x="0" y="0"/>
            <a:chExt cx="2742387" cy="1978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42387" cy="197859"/>
            </a:xfrm>
            <a:custGeom>
              <a:avLst/>
              <a:gdLst/>
              <a:ahLst/>
              <a:cxnLst/>
              <a:rect r="r" b="b" t="t" l="l"/>
              <a:pathLst>
                <a:path h="197859" w="2742387">
                  <a:moveTo>
                    <a:pt x="20819" y="0"/>
                  </a:moveTo>
                  <a:lnTo>
                    <a:pt x="2721568" y="0"/>
                  </a:lnTo>
                  <a:cubicBezTo>
                    <a:pt x="2727090" y="0"/>
                    <a:pt x="2732385" y="2193"/>
                    <a:pt x="2736289" y="6098"/>
                  </a:cubicBezTo>
                  <a:cubicBezTo>
                    <a:pt x="2740193" y="10002"/>
                    <a:pt x="2742387" y="15297"/>
                    <a:pt x="2742387" y="20819"/>
                  </a:cubicBezTo>
                  <a:lnTo>
                    <a:pt x="2742387" y="177040"/>
                  </a:lnTo>
                  <a:cubicBezTo>
                    <a:pt x="2742387" y="182562"/>
                    <a:pt x="2740193" y="187857"/>
                    <a:pt x="2736289" y="191761"/>
                  </a:cubicBezTo>
                  <a:cubicBezTo>
                    <a:pt x="2732385" y="195666"/>
                    <a:pt x="2727090" y="197859"/>
                    <a:pt x="2721568" y="197859"/>
                  </a:cubicBezTo>
                  <a:lnTo>
                    <a:pt x="20819" y="197859"/>
                  </a:lnTo>
                  <a:cubicBezTo>
                    <a:pt x="15297" y="197859"/>
                    <a:pt x="10002" y="195666"/>
                    <a:pt x="6098" y="191761"/>
                  </a:cubicBezTo>
                  <a:cubicBezTo>
                    <a:pt x="2193" y="187857"/>
                    <a:pt x="0" y="182562"/>
                    <a:pt x="0" y="177040"/>
                  </a:cubicBezTo>
                  <a:lnTo>
                    <a:pt x="0" y="20819"/>
                  </a:lnTo>
                  <a:cubicBezTo>
                    <a:pt x="0" y="15297"/>
                    <a:pt x="2193" y="10002"/>
                    <a:pt x="6098" y="6098"/>
                  </a:cubicBezTo>
                  <a:cubicBezTo>
                    <a:pt x="10002" y="2193"/>
                    <a:pt x="15297" y="0"/>
                    <a:pt x="20819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742387" cy="235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84883" y="7707659"/>
            <a:ext cx="10197290" cy="772767"/>
            <a:chOff x="0" y="0"/>
            <a:chExt cx="2685706" cy="2035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85706" cy="203527"/>
            </a:xfrm>
            <a:custGeom>
              <a:avLst/>
              <a:gdLst/>
              <a:ahLst/>
              <a:cxnLst/>
              <a:rect r="r" b="b" t="t" l="l"/>
              <a:pathLst>
                <a:path h="203527" w="2685706">
                  <a:moveTo>
                    <a:pt x="21258" y="0"/>
                  </a:moveTo>
                  <a:lnTo>
                    <a:pt x="2664448" y="0"/>
                  </a:lnTo>
                  <a:cubicBezTo>
                    <a:pt x="2676189" y="0"/>
                    <a:pt x="2685706" y="9518"/>
                    <a:pt x="2685706" y="21258"/>
                  </a:cubicBezTo>
                  <a:lnTo>
                    <a:pt x="2685706" y="182269"/>
                  </a:lnTo>
                  <a:cubicBezTo>
                    <a:pt x="2685706" y="194010"/>
                    <a:pt x="2676189" y="203527"/>
                    <a:pt x="2664448" y="203527"/>
                  </a:cubicBezTo>
                  <a:lnTo>
                    <a:pt x="21258" y="203527"/>
                  </a:lnTo>
                  <a:cubicBezTo>
                    <a:pt x="9518" y="203527"/>
                    <a:pt x="0" y="194010"/>
                    <a:pt x="0" y="182269"/>
                  </a:cubicBezTo>
                  <a:lnTo>
                    <a:pt x="0" y="21258"/>
                  </a:lnTo>
                  <a:cubicBezTo>
                    <a:pt x="0" y="9518"/>
                    <a:pt x="9518" y="0"/>
                    <a:pt x="21258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685706" cy="241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4410630"/>
            <a:ext cx="472735" cy="47273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8700" y="5253749"/>
            <a:ext cx="472735" cy="47273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28700" y="6096869"/>
            <a:ext cx="472735" cy="47273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28700" y="6939989"/>
            <a:ext cx="472735" cy="47273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28700" y="7783108"/>
            <a:ext cx="472735" cy="472735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1349537" y="2556381"/>
            <a:ext cx="7210210" cy="6101640"/>
          </a:xfrm>
          <a:custGeom>
            <a:avLst/>
            <a:gdLst/>
            <a:ahLst/>
            <a:cxnLst/>
            <a:rect r="r" b="b" t="t" l="l"/>
            <a:pathLst>
              <a:path h="6101640" w="7210210">
                <a:moveTo>
                  <a:pt x="0" y="0"/>
                </a:moveTo>
                <a:lnTo>
                  <a:pt x="7210211" y="0"/>
                </a:lnTo>
                <a:lnTo>
                  <a:pt x="7210211" y="6101640"/>
                </a:lnTo>
                <a:lnTo>
                  <a:pt x="0" y="6101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4946724">
            <a:off x="13683863" y="425468"/>
            <a:ext cx="1337070" cy="1916946"/>
          </a:xfrm>
          <a:custGeom>
            <a:avLst/>
            <a:gdLst/>
            <a:ahLst/>
            <a:cxnLst/>
            <a:rect r="r" b="b" t="t" l="l"/>
            <a:pathLst>
              <a:path h="1916946" w="1337070">
                <a:moveTo>
                  <a:pt x="0" y="0"/>
                </a:moveTo>
                <a:lnTo>
                  <a:pt x="1337070" y="0"/>
                </a:lnTo>
                <a:lnTo>
                  <a:pt x="1337070" y="1916946"/>
                </a:lnTo>
                <a:lnTo>
                  <a:pt x="0" y="19169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028700" y="1399958"/>
            <a:ext cx="14985872" cy="17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METHODOLOGY</a:t>
            </a:r>
          </a:p>
          <a:p>
            <a:pPr algn="l" marL="0" indent="0" lvl="0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OVERVIEW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28700" y="3210788"/>
            <a:ext cx="14985872" cy="651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6"/>
              </a:lnSpc>
            </a:pPr>
            <a:r>
              <a:rPr lang="en-US" b="true" sz="3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Stepwise Approach to Analysis &amp; Predictive Modeling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862194" y="4361852"/>
            <a:ext cx="13895203" cy="44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Preprocessing → Handling missing values &amp; encoding variables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862194" y="5215353"/>
            <a:ext cx="13895203" cy="44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Exploratory Data Analysis → Uncovering patterns and distributions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881244" y="6068855"/>
            <a:ext cx="13895203" cy="44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Statistical Hypothesis Testing → Chi-Square &amp; Welch's t-Test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919344" y="6922357"/>
            <a:ext cx="13895203" cy="44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Logistic Regression → Building baseline predictive churn model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919344" y="7775858"/>
            <a:ext cx="13895203" cy="44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 Evaluation → Accuracy, Precision, Recall, F1 &amp; ROC-AUC</a:t>
            </a:r>
          </a:p>
        </p:txBody>
      </p:sp>
      <p:sp>
        <p:nvSpPr>
          <p:cNvPr name="Freeform 47" id="47"/>
          <p:cNvSpPr/>
          <p:nvPr/>
        </p:nvSpPr>
        <p:spPr>
          <a:xfrm flipH="true" flipV="false" rot="0">
            <a:off x="16466417" y="740760"/>
            <a:ext cx="2200492" cy="1461203"/>
          </a:xfrm>
          <a:custGeom>
            <a:avLst/>
            <a:gdLst/>
            <a:ahLst/>
            <a:cxnLst/>
            <a:rect r="r" b="b" t="t" l="l"/>
            <a:pathLst>
              <a:path h="1461203" w="2200492">
                <a:moveTo>
                  <a:pt x="2200492" y="0"/>
                </a:moveTo>
                <a:lnTo>
                  <a:pt x="0" y="0"/>
                </a:lnTo>
                <a:lnTo>
                  <a:pt x="0" y="1461203"/>
                </a:lnTo>
                <a:lnTo>
                  <a:pt x="2200492" y="1461203"/>
                </a:lnTo>
                <a:lnTo>
                  <a:pt x="2200492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2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34441" y="0"/>
            <a:ext cx="20556882" cy="10287000"/>
            <a:chOff x="0" y="0"/>
            <a:chExt cx="2740917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93176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353358" y="4300764"/>
            <a:ext cx="7944543" cy="4080252"/>
            <a:chOff x="0" y="0"/>
            <a:chExt cx="2092390" cy="10746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2390" cy="1074634"/>
            </a:xfrm>
            <a:custGeom>
              <a:avLst/>
              <a:gdLst/>
              <a:ahLst/>
              <a:cxnLst/>
              <a:rect r="r" b="b" t="t" l="l"/>
              <a:pathLst>
                <a:path h="1074634" w="2092390">
                  <a:moveTo>
                    <a:pt x="48725" y="0"/>
                  </a:moveTo>
                  <a:lnTo>
                    <a:pt x="2043665" y="0"/>
                  </a:lnTo>
                  <a:cubicBezTo>
                    <a:pt x="2070575" y="0"/>
                    <a:pt x="2092390" y="21815"/>
                    <a:pt x="2092390" y="48725"/>
                  </a:cubicBezTo>
                  <a:lnTo>
                    <a:pt x="2092390" y="1025910"/>
                  </a:lnTo>
                  <a:cubicBezTo>
                    <a:pt x="2092390" y="1038832"/>
                    <a:pt x="2087257" y="1051225"/>
                    <a:pt x="2078119" y="1060363"/>
                  </a:cubicBezTo>
                  <a:cubicBezTo>
                    <a:pt x="2068981" y="1069501"/>
                    <a:pt x="2056588" y="1074634"/>
                    <a:pt x="2043665" y="1074634"/>
                  </a:cubicBezTo>
                  <a:lnTo>
                    <a:pt x="48725" y="1074634"/>
                  </a:lnTo>
                  <a:cubicBezTo>
                    <a:pt x="35802" y="1074634"/>
                    <a:pt x="23409" y="1069501"/>
                    <a:pt x="14271" y="1060363"/>
                  </a:cubicBezTo>
                  <a:cubicBezTo>
                    <a:pt x="5133" y="1051225"/>
                    <a:pt x="0" y="1038832"/>
                    <a:pt x="0" y="1025910"/>
                  </a:cubicBezTo>
                  <a:lnTo>
                    <a:pt x="0" y="48725"/>
                  </a:lnTo>
                  <a:cubicBezTo>
                    <a:pt x="0" y="35802"/>
                    <a:pt x="5133" y="23409"/>
                    <a:pt x="14271" y="14271"/>
                  </a:cubicBezTo>
                  <a:cubicBezTo>
                    <a:pt x="23409" y="5133"/>
                    <a:pt x="35802" y="0"/>
                    <a:pt x="48725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92390" cy="1112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889006" y="9258300"/>
            <a:ext cx="24066013" cy="1630186"/>
            <a:chOff x="0" y="0"/>
            <a:chExt cx="6338374" cy="4293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38374" cy="429349"/>
            </a:xfrm>
            <a:custGeom>
              <a:avLst/>
              <a:gdLst/>
              <a:ahLst/>
              <a:cxnLst/>
              <a:rect r="r" b="b" t="t" l="l"/>
              <a:pathLst>
                <a:path h="429349" w="6338374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852849" y="-1187029"/>
            <a:ext cx="8018207" cy="14079215"/>
          </a:xfrm>
          <a:custGeom>
            <a:avLst/>
            <a:gdLst/>
            <a:ahLst/>
            <a:cxnLst/>
            <a:rect r="r" b="b" t="t" l="l"/>
            <a:pathLst>
              <a:path h="14079215" w="8018207">
                <a:moveTo>
                  <a:pt x="0" y="0"/>
                </a:moveTo>
                <a:lnTo>
                  <a:pt x="8018208" y="0"/>
                </a:lnTo>
                <a:lnTo>
                  <a:pt x="8018208" y="14079214"/>
                </a:lnTo>
                <a:lnTo>
                  <a:pt x="0" y="140792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353358" y="1461541"/>
            <a:ext cx="8934642" cy="2603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PREDICTIVE</a:t>
            </a:r>
          </a:p>
          <a:p>
            <a:pPr algn="l" marL="0" indent="0" lvl="0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MODELING</a:t>
            </a:r>
          </a:p>
          <a:p>
            <a:pPr algn="l" marL="0" indent="0" lvl="0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APPROACH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27363" y="4674441"/>
            <a:ext cx="8460637" cy="128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6"/>
              </a:lnSpc>
            </a:pPr>
            <a:r>
              <a:rPr lang="en-US" b="true" sz="3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Logistic Regression</a:t>
            </a:r>
          </a:p>
          <a:p>
            <a:pPr algn="l" marL="0" indent="0" lvl="0">
              <a:lnSpc>
                <a:spcPts val="5036"/>
              </a:lnSpc>
            </a:pPr>
            <a:r>
              <a:rPr lang="en-US" b="true" sz="3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Baseline Model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27363" y="6146789"/>
            <a:ext cx="6820810" cy="1645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77"/>
              </a:lnSpc>
            </a:pPr>
            <a:r>
              <a:rPr lang="en-US" sz="23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Features: demographics, services &amp; billing variables. Target: Churn (Yes/No). Model selected for interpretability and strong baseline performance with ROC-AUC of 0.828.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10" y="647761"/>
            <a:ext cx="2384876" cy="1914236"/>
          </a:xfrm>
          <a:custGeom>
            <a:avLst/>
            <a:gdLst/>
            <a:ahLst/>
            <a:cxnLst/>
            <a:rect r="r" b="b" t="t" l="l"/>
            <a:pathLst>
              <a:path h="1914236" w="2384876">
                <a:moveTo>
                  <a:pt x="0" y="0"/>
                </a:moveTo>
                <a:lnTo>
                  <a:pt x="2384875" y="0"/>
                </a:lnTo>
                <a:lnTo>
                  <a:pt x="2384875" y="1914236"/>
                </a:lnTo>
                <a:lnTo>
                  <a:pt x="0" y="19142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6506237">
            <a:off x="6459988" y="428341"/>
            <a:ext cx="1593254" cy="2284235"/>
          </a:xfrm>
          <a:custGeom>
            <a:avLst/>
            <a:gdLst/>
            <a:ahLst/>
            <a:cxnLst/>
            <a:rect r="r" b="b" t="t" l="l"/>
            <a:pathLst>
              <a:path h="2284235" w="1593254">
                <a:moveTo>
                  <a:pt x="0" y="0"/>
                </a:moveTo>
                <a:lnTo>
                  <a:pt x="1593254" y="0"/>
                </a:lnTo>
                <a:lnTo>
                  <a:pt x="1593254" y="2284235"/>
                </a:lnTo>
                <a:lnTo>
                  <a:pt x="0" y="22842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4692927">
            <a:off x="2556548" y="762710"/>
            <a:ext cx="1023467" cy="1467336"/>
          </a:xfrm>
          <a:custGeom>
            <a:avLst/>
            <a:gdLst/>
            <a:ahLst/>
            <a:cxnLst/>
            <a:rect r="r" b="b" t="t" l="l"/>
            <a:pathLst>
              <a:path h="1467336" w="1023467">
                <a:moveTo>
                  <a:pt x="0" y="0"/>
                </a:moveTo>
                <a:lnTo>
                  <a:pt x="1023467" y="0"/>
                </a:lnTo>
                <a:lnTo>
                  <a:pt x="1023467" y="1467337"/>
                </a:lnTo>
                <a:lnTo>
                  <a:pt x="0" y="14673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3082179">
            <a:off x="16621236" y="1438519"/>
            <a:ext cx="1066842" cy="1529523"/>
          </a:xfrm>
          <a:custGeom>
            <a:avLst/>
            <a:gdLst/>
            <a:ahLst/>
            <a:cxnLst/>
            <a:rect r="r" b="b" t="t" l="l"/>
            <a:pathLst>
              <a:path h="1529523" w="1066842">
                <a:moveTo>
                  <a:pt x="0" y="0"/>
                </a:moveTo>
                <a:lnTo>
                  <a:pt x="1066843" y="0"/>
                </a:lnTo>
                <a:lnTo>
                  <a:pt x="1066843" y="1529523"/>
                </a:lnTo>
                <a:lnTo>
                  <a:pt x="0" y="15295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2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34441" y="0"/>
            <a:ext cx="20556882" cy="10287000"/>
            <a:chOff x="0" y="0"/>
            <a:chExt cx="2740917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93176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5292223"/>
            <a:ext cx="9574838" cy="3244459"/>
            <a:chOff x="0" y="0"/>
            <a:chExt cx="2521768" cy="8545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21768" cy="854508"/>
            </a:xfrm>
            <a:custGeom>
              <a:avLst/>
              <a:gdLst/>
              <a:ahLst/>
              <a:cxnLst/>
              <a:rect r="r" b="b" t="t" l="l"/>
              <a:pathLst>
                <a:path h="854508" w="2521768">
                  <a:moveTo>
                    <a:pt x="40428" y="0"/>
                  </a:moveTo>
                  <a:lnTo>
                    <a:pt x="2481340" y="0"/>
                  </a:lnTo>
                  <a:cubicBezTo>
                    <a:pt x="2503668" y="0"/>
                    <a:pt x="2521768" y="18100"/>
                    <a:pt x="2521768" y="40428"/>
                  </a:cubicBezTo>
                  <a:lnTo>
                    <a:pt x="2521768" y="814079"/>
                  </a:lnTo>
                  <a:cubicBezTo>
                    <a:pt x="2521768" y="836407"/>
                    <a:pt x="2503668" y="854508"/>
                    <a:pt x="2481340" y="854508"/>
                  </a:cubicBezTo>
                  <a:lnTo>
                    <a:pt x="40428" y="854508"/>
                  </a:lnTo>
                  <a:cubicBezTo>
                    <a:pt x="18100" y="854508"/>
                    <a:pt x="0" y="836407"/>
                    <a:pt x="0" y="814079"/>
                  </a:cubicBezTo>
                  <a:lnTo>
                    <a:pt x="0" y="40428"/>
                  </a:lnTo>
                  <a:cubicBezTo>
                    <a:pt x="0" y="18100"/>
                    <a:pt x="18100" y="0"/>
                    <a:pt x="40428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21768" cy="892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889006" y="9258300"/>
            <a:ext cx="24066013" cy="1630186"/>
            <a:chOff x="0" y="0"/>
            <a:chExt cx="6338374" cy="4293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38374" cy="429349"/>
            </a:xfrm>
            <a:custGeom>
              <a:avLst/>
              <a:gdLst/>
              <a:ahLst/>
              <a:cxnLst/>
              <a:rect r="r" b="b" t="t" l="l"/>
              <a:pathLst>
                <a:path h="429349" w="6338374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3244104"/>
            <a:ext cx="13926768" cy="17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MODEL PERFORMANCE</a:t>
            </a:r>
          </a:p>
          <a:p>
            <a:pPr algn="l" marL="0" indent="0" lvl="0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METRICS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19027" y="5606650"/>
            <a:ext cx="13364824" cy="651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6"/>
              </a:lnSpc>
            </a:pPr>
            <a:r>
              <a:rPr lang="en-US" b="true" sz="3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Logistic Regression Evaluation Results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19027" y="6361706"/>
            <a:ext cx="7514966" cy="1755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model achieves 78.96% accuracy with a ROC-AUC of 0.828, demonstrating solid predictive power for identifying at-risk telecom customers.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443370" y="982752"/>
            <a:ext cx="8609597" cy="7820850"/>
          </a:xfrm>
          <a:prstGeom prst="rect">
            <a:avLst/>
          </a:prstGeom>
        </p:spPr>
      </p:pic>
      <p:sp>
        <p:nvSpPr>
          <p:cNvPr name="Freeform 15" id="15"/>
          <p:cNvSpPr/>
          <p:nvPr/>
        </p:nvSpPr>
        <p:spPr>
          <a:xfrm flipH="false" flipV="false" rot="0">
            <a:off x="-42193" y="633255"/>
            <a:ext cx="2011577" cy="1992778"/>
          </a:xfrm>
          <a:custGeom>
            <a:avLst/>
            <a:gdLst/>
            <a:ahLst/>
            <a:cxnLst/>
            <a:rect r="r" b="b" t="t" l="l"/>
            <a:pathLst>
              <a:path h="1992778" w="2011577">
                <a:moveTo>
                  <a:pt x="0" y="0"/>
                </a:moveTo>
                <a:lnTo>
                  <a:pt x="2011578" y="0"/>
                </a:lnTo>
                <a:lnTo>
                  <a:pt x="2011578" y="1992777"/>
                </a:lnTo>
                <a:lnTo>
                  <a:pt x="0" y="19927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2866869" y="688194"/>
            <a:ext cx="1708239" cy="1874611"/>
          </a:xfrm>
          <a:custGeom>
            <a:avLst/>
            <a:gdLst/>
            <a:ahLst/>
            <a:cxnLst/>
            <a:rect r="r" b="b" t="t" l="l"/>
            <a:pathLst>
              <a:path h="1874611" w="1708239">
                <a:moveTo>
                  <a:pt x="0" y="0"/>
                </a:moveTo>
                <a:lnTo>
                  <a:pt x="1708239" y="0"/>
                </a:lnTo>
                <a:lnTo>
                  <a:pt x="1708239" y="1874611"/>
                </a:lnTo>
                <a:lnTo>
                  <a:pt x="0" y="18746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6025177">
            <a:off x="7773034" y="887815"/>
            <a:ext cx="1546833" cy="1465624"/>
          </a:xfrm>
          <a:custGeom>
            <a:avLst/>
            <a:gdLst/>
            <a:ahLst/>
            <a:cxnLst/>
            <a:rect r="r" b="b" t="t" l="l"/>
            <a:pathLst>
              <a:path h="1465624" w="1546833">
                <a:moveTo>
                  <a:pt x="0" y="0"/>
                </a:moveTo>
                <a:lnTo>
                  <a:pt x="1546833" y="0"/>
                </a:lnTo>
                <a:lnTo>
                  <a:pt x="1546833" y="1465624"/>
                </a:lnTo>
                <a:lnTo>
                  <a:pt x="0" y="14656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2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34441" y="0"/>
            <a:ext cx="20556882" cy="10287000"/>
            <a:chOff x="0" y="0"/>
            <a:chExt cx="2740917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93176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86329" y="4471770"/>
            <a:ext cx="6863424" cy="665162"/>
            <a:chOff x="0" y="0"/>
            <a:chExt cx="1807651" cy="1751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07651" cy="175187"/>
            </a:xfrm>
            <a:custGeom>
              <a:avLst/>
              <a:gdLst/>
              <a:ahLst/>
              <a:cxnLst/>
              <a:rect r="r" b="b" t="t" l="l"/>
              <a:pathLst>
                <a:path h="175187" w="1807651">
                  <a:moveTo>
                    <a:pt x="31584" y="0"/>
                  </a:moveTo>
                  <a:lnTo>
                    <a:pt x="1776067" y="0"/>
                  </a:lnTo>
                  <a:cubicBezTo>
                    <a:pt x="1784443" y="0"/>
                    <a:pt x="1792477" y="3328"/>
                    <a:pt x="1798400" y="9251"/>
                  </a:cubicBezTo>
                  <a:cubicBezTo>
                    <a:pt x="1804323" y="15174"/>
                    <a:pt x="1807651" y="23207"/>
                    <a:pt x="1807651" y="31584"/>
                  </a:cubicBezTo>
                  <a:lnTo>
                    <a:pt x="1807651" y="143603"/>
                  </a:lnTo>
                  <a:cubicBezTo>
                    <a:pt x="1807651" y="161046"/>
                    <a:pt x="1793510" y="175187"/>
                    <a:pt x="1776067" y="175187"/>
                  </a:cubicBezTo>
                  <a:lnTo>
                    <a:pt x="31584" y="175187"/>
                  </a:lnTo>
                  <a:cubicBezTo>
                    <a:pt x="14141" y="175187"/>
                    <a:pt x="0" y="161046"/>
                    <a:pt x="0" y="143603"/>
                  </a:cubicBezTo>
                  <a:lnTo>
                    <a:pt x="0" y="31584"/>
                  </a:lnTo>
                  <a:cubicBezTo>
                    <a:pt x="0" y="14141"/>
                    <a:pt x="14141" y="0"/>
                    <a:pt x="31584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07651" cy="213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86329" y="5325272"/>
            <a:ext cx="7579777" cy="529652"/>
            <a:chOff x="0" y="0"/>
            <a:chExt cx="1996320" cy="13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6320" cy="139497"/>
            </a:xfrm>
            <a:custGeom>
              <a:avLst/>
              <a:gdLst/>
              <a:ahLst/>
              <a:cxnLst/>
              <a:rect r="r" b="b" t="t" l="l"/>
              <a:pathLst>
                <a:path h="139497" w="1996320">
                  <a:moveTo>
                    <a:pt x="28599" y="0"/>
                  </a:moveTo>
                  <a:lnTo>
                    <a:pt x="1967721" y="0"/>
                  </a:lnTo>
                  <a:cubicBezTo>
                    <a:pt x="1975306" y="0"/>
                    <a:pt x="1982580" y="3013"/>
                    <a:pt x="1987943" y="8376"/>
                  </a:cubicBezTo>
                  <a:cubicBezTo>
                    <a:pt x="1993307" y="13740"/>
                    <a:pt x="1996320" y="21014"/>
                    <a:pt x="1996320" y="28599"/>
                  </a:cubicBezTo>
                  <a:lnTo>
                    <a:pt x="1996320" y="110898"/>
                  </a:lnTo>
                  <a:cubicBezTo>
                    <a:pt x="1996320" y="126693"/>
                    <a:pt x="1983516" y="139497"/>
                    <a:pt x="1967721" y="139497"/>
                  </a:cubicBezTo>
                  <a:lnTo>
                    <a:pt x="28599" y="139497"/>
                  </a:lnTo>
                  <a:cubicBezTo>
                    <a:pt x="21014" y="139497"/>
                    <a:pt x="13740" y="136484"/>
                    <a:pt x="8376" y="131120"/>
                  </a:cubicBezTo>
                  <a:cubicBezTo>
                    <a:pt x="3013" y="125757"/>
                    <a:pt x="0" y="118483"/>
                    <a:pt x="0" y="110898"/>
                  </a:cubicBezTo>
                  <a:lnTo>
                    <a:pt x="0" y="28599"/>
                  </a:lnTo>
                  <a:cubicBezTo>
                    <a:pt x="0" y="21014"/>
                    <a:pt x="3013" y="13740"/>
                    <a:pt x="8376" y="8376"/>
                  </a:cubicBezTo>
                  <a:cubicBezTo>
                    <a:pt x="13740" y="3013"/>
                    <a:pt x="21014" y="0"/>
                    <a:pt x="28599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96320" cy="17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889006" y="9258300"/>
            <a:ext cx="24066013" cy="1630186"/>
            <a:chOff x="0" y="0"/>
            <a:chExt cx="6338374" cy="4293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38374" cy="429349"/>
            </a:xfrm>
            <a:custGeom>
              <a:avLst/>
              <a:gdLst/>
              <a:ahLst/>
              <a:cxnLst/>
              <a:rect r="r" b="b" t="t" l="l"/>
              <a:pathLst>
                <a:path h="429349" w="6338374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986329" y="6178774"/>
            <a:ext cx="7579777" cy="661941"/>
            <a:chOff x="0" y="0"/>
            <a:chExt cx="1996320" cy="1743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96320" cy="174338"/>
            </a:xfrm>
            <a:custGeom>
              <a:avLst/>
              <a:gdLst/>
              <a:ahLst/>
              <a:cxnLst/>
              <a:rect r="r" b="b" t="t" l="l"/>
              <a:pathLst>
                <a:path h="174338" w="1996320">
                  <a:moveTo>
                    <a:pt x="28599" y="0"/>
                  </a:moveTo>
                  <a:lnTo>
                    <a:pt x="1967721" y="0"/>
                  </a:lnTo>
                  <a:cubicBezTo>
                    <a:pt x="1975306" y="0"/>
                    <a:pt x="1982580" y="3013"/>
                    <a:pt x="1987943" y="8376"/>
                  </a:cubicBezTo>
                  <a:cubicBezTo>
                    <a:pt x="1993307" y="13740"/>
                    <a:pt x="1996320" y="21014"/>
                    <a:pt x="1996320" y="28599"/>
                  </a:cubicBezTo>
                  <a:lnTo>
                    <a:pt x="1996320" y="145739"/>
                  </a:lnTo>
                  <a:cubicBezTo>
                    <a:pt x="1996320" y="153324"/>
                    <a:pt x="1993307" y="160599"/>
                    <a:pt x="1987943" y="165962"/>
                  </a:cubicBezTo>
                  <a:cubicBezTo>
                    <a:pt x="1982580" y="171325"/>
                    <a:pt x="1975306" y="174338"/>
                    <a:pt x="1967721" y="174338"/>
                  </a:cubicBezTo>
                  <a:lnTo>
                    <a:pt x="28599" y="174338"/>
                  </a:lnTo>
                  <a:cubicBezTo>
                    <a:pt x="21014" y="174338"/>
                    <a:pt x="13740" y="171325"/>
                    <a:pt x="8376" y="165962"/>
                  </a:cubicBezTo>
                  <a:cubicBezTo>
                    <a:pt x="3013" y="160599"/>
                    <a:pt x="0" y="153324"/>
                    <a:pt x="0" y="145739"/>
                  </a:cubicBezTo>
                  <a:lnTo>
                    <a:pt x="0" y="28599"/>
                  </a:lnTo>
                  <a:cubicBezTo>
                    <a:pt x="0" y="21014"/>
                    <a:pt x="3013" y="13740"/>
                    <a:pt x="8376" y="8376"/>
                  </a:cubicBezTo>
                  <a:cubicBezTo>
                    <a:pt x="13740" y="3013"/>
                    <a:pt x="21014" y="0"/>
                    <a:pt x="28599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96320" cy="212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86329" y="7032275"/>
            <a:ext cx="7977376" cy="642861"/>
            <a:chOff x="0" y="0"/>
            <a:chExt cx="2101037" cy="1693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01037" cy="169313"/>
            </a:xfrm>
            <a:custGeom>
              <a:avLst/>
              <a:gdLst/>
              <a:ahLst/>
              <a:cxnLst/>
              <a:rect r="r" b="b" t="t" l="l"/>
              <a:pathLst>
                <a:path h="169313" w="2101037">
                  <a:moveTo>
                    <a:pt x="27174" y="0"/>
                  </a:moveTo>
                  <a:lnTo>
                    <a:pt x="2073864" y="0"/>
                  </a:lnTo>
                  <a:cubicBezTo>
                    <a:pt x="2081071" y="0"/>
                    <a:pt x="2087982" y="2863"/>
                    <a:pt x="2093078" y="7959"/>
                  </a:cubicBezTo>
                  <a:cubicBezTo>
                    <a:pt x="2098174" y="13055"/>
                    <a:pt x="2101037" y="19967"/>
                    <a:pt x="2101037" y="27174"/>
                  </a:cubicBezTo>
                  <a:lnTo>
                    <a:pt x="2101037" y="142140"/>
                  </a:lnTo>
                  <a:cubicBezTo>
                    <a:pt x="2101037" y="149346"/>
                    <a:pt x="2098174" y="156258"/>
                    <a:pt x="2093078" y="161354"/>
                  </a:cubicBezTo>
                  <a:cubicBezTo>
                    <a:pt x="2087982" y="166450"/>
                    <a:pt x="2081071" y="169313"/>
                    <a:pt x="2073864" y="169313"/>
                  </a:cubicBezTo>
                  <a:lnTo>
                    <a:pt x="27174" y="169313"/>
                  </a:lnTo>
                  <a:cubicBezTo>
                    <a:pt x="19967" y="169313"/>
                    <a:pt x="13055" y="166450"/>
                    <a:pt x="7959" y="161354"/>
                  </a:cubicBezTo>
                  <a:cubicBezTo>
                    <a:pt x="2863" y="156258"/>
                    <a:pt x="0" y="149346"/>
                    <a:pt x="0" y="142140"/>
                  </a:cubicBezTo>
                  <a:lnTo>
                    <a:pt x="0" y="27174"/>
                  </a:lnTo>
                  <a:cubicBezTo>
                    <a:pt x="0" y="19967"/>
                    <a:pt x="2863" y="13055"/>
                    <a:pt x="7959" y="7959"/>
                  </a:cubicBezTo>
                  <a:cubicBezTo>
                    <a:pt x="13055" y="2863"/>
                    <a:pt x="19967" y="0"/>
                    <a:pt x="27174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01037" cy="207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986329" y="7885777"/>
            <a:ext cx="7977376" cy="610081"/>
            <a:chOff x="0" y="0"/>
            <a:chExt cx="2101037" cy="160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01037" cy="160680"/>
            </a:xfrm>
            <a:custGeom>
              <a:avLst/>
              <a:gdLst/>
              <a:ahLst/>
              <a:cxnLst/>
              <a:rect r="r" b="b" t="t" l="l"/>
              <a:pathLst>
                <a:path h="160680" w="2101037">
                  <a:moveTo>
                    <a:pt x="27174" y="0"/>
                  </a:moveTo>
                  <a:lnTo>
                    <a:pt x="2073864" y="0"/>
                  </a:lnTo>
                  <a:cubicBezTo>
                    <a:pt x="2081071" y="0"/>
                    <a:pt x="2087982" y="2863"/>
                    <a:pt x="2093078" y="7959"/>
                  </a:cubicBezTo>
                  <a:cubicBezTo>
                    <a:pt x="2098174" y="13055"/>
                    <a:pt x="2101037" y="19967"/>
                    <a:pt x="2101037" y="27174"/>
                  </a:cubicBezTo>
                  <a:lnTo>
                    <a:pt x="2101037" y="133506"/>
                  </a:lnTo>
                  <a:cubicBezTo>
                    <a:pt x="2101037" y="140713"/>
                    <a:pt x="2098174" y="147625"/>
                    <a:pt x="2093078" y="152721"/>
                  </a:cubicBezTo>
                  <a:cubicBezTo>
                    <a:pt x="2087982" y="157817"/>
                    <a:pt x="2081071" y="160680"/>
                    <a:pt x="2073864" y="160680"/>
                  </a:cubicBezTo>
                  <a:lnTo>
                    <a:pt x="27174" y="160680"/>
                  </a:lnTo>
                  <a:cubicBezTo>
                    <a:pt x="19967" y="160680"/>
                    <a:pt x="13055" y="157817"/>
                    <a:pt x="7959" y="152721"/>
                  </a:cubicBezTo>
                  <a:cubicBezTo>
                    <a:pt x="2863" y="147625"/>
                    <a:pt x="0" y="140713"/>
                    <a:pt x="0" y="133506"/>
                  </a:cubicBezTo>
                  <a:lnTo>
                    <a:pt x="0" y="27174"/>
                  </a:lnTo>
                  <a:cubicBezTo>
                    <a:pt x="0" y="19967"/>
                    <a:pt x="2863" y="13055"/>
                    <a:pt x="7959" y="7959"/>
                  </a:cubicBezTo>
                  <a:cubicBezTo>
                    <a:pt x="13055" y="2863"/>
                    <a:pt x="19967" y="0"/>
                    <a:pt x="27174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01037" cy="198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30146" y="4588747"/>
            <a:ext cx="472735" cy="47273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30146" y="5431867"/>
            <a:ext cx="472735" cy="47273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30146" y="6274987"/>
            <a:ext cx="472735" cy="47273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30146" y="7118106"/>
            <a:ext cx="472735" cy="47273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30146" y="7961226"/>
            <a:ext cx="472735" cy="472735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-58312" y="2353079"/>
            <a:ext cx="10073070" cy="7111224"/>
          </a:xfrm>
          <a:custGeom>
            <a:avLst/>
            <a:gdLst/>
            <a:ahLst/>
            <a:cxnLst/>
            <a:rect r="r" b="b" t="t" l="l"/>
            <a:pathLst>
              <a:path h="7111224" w="10073070">
                <a:moveTo>
                  <a:pt x="0" y="0"/>
                </a:moveTo>
                <a:lnTo>
                  <a:pt x="10073070" y="0"/>
                </a:lnTo>
                <a:lnTo>
                  <a:pt x="10073070" y="7111224"/>
                </a:lnTo>
                <a:lnTo>
                  <a:pt x="0" y="71112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-8624752">
            <a:off x="785499" y="3828383"/>
            <a:ext cx="1085674" cy="1556523"/>
          </a:xfrm>
          <a:custGeom>
            <a:avLst/>
            <a:gdLst/>
            <a:ahLst/>
            <a:cxnLst/>
            <a:rect r="r" b="b" t="t" l="l"/>
            <a:pathLst>
              <a:path h="1556523" w="1085674">
                <a:moveTo>
                  <a:pt x="0" y="0"/>
                </a:moveTo>
                <a:lnTo>
                  <a:pt x="1085675" y="0"/>
                </a:lnTo>
                <a:lnTo>
                  <a:pt x="1085675" y="1556523"/>
                </a:lnTo>
                <a:lnTo>
                  <a:pt x="0" y="15565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3736269">
            <a:off x="7443072" y="6750963"/>
            <a:ext cx="856381" cy="1227787"/>
          </a:xfrm>
          <a:custGeom>
            <a:avLst/>
            <a:gdLst/>
            <a:ahLst/>
            <a:cxnLst/>
            <a:rect r="r" b="b" t="t" l="l"/>
            <a:pathLst>
              <a:path h="1227787" w="856381">
                <a:moveTo>
                  <a:pt x="0" y="0"/>
                </a:moveTo>
                <a:lnTo>
                  <a:pt x="856381" y="0"/>
                </a:lnTo>
                <a:lnTo>
                  <a:pt x="856381" y="1227786"/>
                </a:lnTo>
                <a:lnTo>
                  <a:pt x="0" y="12277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-449391" y="-97927"/>
            <a:ext cx="2956182" cy="2253254"/>
          </a:xfrm>
          <a:custGeom>
            <a:avLst/>
            <a:gdLst/>
            <a:ahLst/>
            <a:cxnLst/>
            <a:rect r="r" b="b" t="t" l="l"/>
            <a:pathLst>
              <a:path h="2253254" w="2956182">
                <a:moveTo>
                  <a:pt x="0" y="0"/>
                </a:moveTo>
                <a:lnTo>
                  <a:pt x="2956182" y="0"/>
                </a:lnTo>
                <a:lnTo>
                  <a:pt x="2956182" y="2253254"/>
                </a:lnTo>
                <a:lnTo>
                  <a:pt x="0" y="22532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9330146" y="1578076"/>
            <a:ext cx="8957854" cy="90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5"/>
              </a:lnSpc>
            </a:pPr>
            <a:r>
              <a:rPr lang="en-US" sz="699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BUSINESS INSIGHTS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19737" y="2705836"/>
            <a:ext cx="8068263" cy="128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6"/>
              </a:lnSpc>
            </a:pPr>
            <a:r>
              <a:rPr lang="en-US" b="true" sz="3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Findings from Analysis</a:t>
            </a:r>
          </a:p>
          <a:p>
            <a:pPr algn="l" marL="0" indent="0" lvl="0">
              <a:lnSpc>
                <a:spcPts val="5036"/>
              </a:lnSpc>
            </a:pPr>
            <a:r>
              <a:rPr lang="en-US" b="true" sz="3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&amp; Predictive Modeling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7612064">
            <a:off x="17420867" y="2450918"/>
            <a:ext cx="1085674" cy="1556523"/>
          </a:xfrm>
          <a:custGeom>
            <a:avLst/>
            <a:gdLst/>
            <a:ahLst/>
            <a:cxnLst/>
            <a:rect r="r" b="b" t="t" l="l"/>
            <a:pathLst>
              <a:path h="1556523" w="1085674">
                <a:moveTo>
                  <a:pt x="0" y="0"/>
                </a:moveTo>
                <a:lnTo>
                  <a:pt x="1085675" y="0"/>
                </a:lnTo>
                <a:lnTo>
                  <a:pt x="1085675" y="1556522"/>
                </a:lnTo>
                <a:lnTo>
                  <a:pt x="0" y="15565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0390267" y="4539970"/>
            <a:ext cx="7175839" cy="384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29"/>
              </a:lnSpc>
            </a:pPr>
            <a:r>
              <a:rPr lang="en-US" sz="2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Contract type is a critical retention factor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390267" y="5393471"/>
            <a:ext cx="7175839" cy="384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29"/>
              </a:lnSpc>
            </a:pPr>
            <a:r>
              <a:rPr lang="en-US" sz="2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Pricing strategy directly impacts churn decisions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390267" y="6246973"/>
            <a:ext cx="7175839" cy="384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29"/>
              </a:lnSpc>
            </a:pPr>
            <a:r>
              <a:rPr lang="en-US" sz="2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Early customer engagement is crucial to retention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390267" y="7100474"/>
            <a:ext cx="7175839" cy="384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29"/>
              </a:lnSpc>
            </a:pPr>
            <a:r>
              <a:rPr lang="en-US" sz="2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Longer-term contracts significantly encourage loyalty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390267" y="7953976"/>
            <a:ext cx="7175839" cy="384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29"/>
              </a:lnSpc>
            </a:pPr>
            <a:r>
              <a:rPr lang="en-US" sz="2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High-value customers are also at risk of churning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2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34441" y="0"/>
            <a:ext cx="20556882" cy="10287000"/>
            <a:chOff x="0" y="0"/>
            <a:chExt cx="2740917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93176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86329" y="4471770"/>
            <a:ext cx="7579777" cy="681432"/>
            <a:chOff x="0" y="0"/>
            <a:chExt cx="1996320" cy="179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96320" cy="179472"/>
            </a:xfrm>
            <a:custGeom>
              <a:avLst/>
              <a:gdLst/>
              <a:ahLst/>
              <a:cxnLst/>
              <a:rect r="r" b="b" t="t" l="l"/>
              <a:pathLst>
                <a:path h="179472" w="1996320">
                  <a:moveTo>
                    <a:pt x="28599" y="0"/>
                  </a:moveTo>
                  <a:lnTo>
                    <a:pt x="1967721" y="0"/>
                  </a:lnTo>
                  <a:cubicBezTo>
                    <a:pt x="1975306" y="0"/>
                    <a:pt x="1982580" y="3013"/>
                    <a:pt x="1987943" y="8376"/>
                  </a:cubicBezTo>
                  <a:cubicBezTo>
                    <a:pt x="1993307" y="13740"/>
                    <a:pt x="1996320" y="21014"/>
                    <a:pt x="1996320" y="28599"/>
                  </a:cubicBezTo>
                  <a:lnTo>
                    <a:pt x="1996320" y="150873"/>
                  </a:lnTo>
                  <a:cubicBezTo>
                    <a:pt x="1996320" y="166668"/>
                    <a:pt x="1983516" y="179472"/>
                    <a:pt x="1967721" y="179472"/>
                  </a:cubicBezTo>
                  <a:lnTo>
                    <a:pt x="28599" y="179472"/>
                  </a:lnTo>
                  <a:cubicBezTo>
                    <a:pt x="21014" y="179472"/>
                    <a:pt x="13740" y="176459"/>
                    <a:pt x="8376" y="171095"/>
                  </a:cubicBezTo>
                  <a:cubicBezTo>
                    <a:pt x="3013" y="165732"/>
                    <a:pt x="0" y="158458"/>
                    <a:pt x="0" y="150873"/>
                  </a:cubicBezTo>
                  <a:lnTo>
                    <a:pt x="0" y="28599"/>
                  </a:lnTo>
                  <a:cubicBezTo>
                    <a:pt x="0" y="21014"/>
                    <a:pt x="3013" y="13740"/>
                    <a:pt x="8376" y="8376"/>
                  </a:cubicBezTo>
                  <a:cubicBezTo>
                    <a:pt x="13740" y="3013"/>
                    <a:pt x="21014" y="0"/>
                    <a:pt x="28599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96320" cy="217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86329" y="5325272"/>
            <a:ext cx="7579777" cy="663002"/>
            <a:chOff x="0" y="0"/>
            <a:chExt cx="1996320" cy="1746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6320" cy="174618"/>
            </a:xfrm>
            <a:custGeom>
              <a:avLst/>
              <a:gdLst/>
              <a:ahLst/>
              <a:cxnLst/>
              <a:rect r="r" b="b" t="t" l="l"/>
              <a:pathLst>
                <a:path h="174618" w="1996320">
                  <a:moveTo>
                    <a:pt x="28599" y="0"/>
                  </a:moveTo>
                  <a:lnTo>
                    <a:pt x="1967721" y="0"/>
                  </a:lnTo>
                  <a:cubicBezTo>
                    <a:pt x="1975306" y="0"/>
                    <a:pt x="1982580" y="3013"/>
                    <a:pt x="1987943" y="8376"/>
                  </a:cubicBezTo>
                  <a:cubicBezTo>
                    <a:pt x="1993307" y="13740"/>
                    <a:pt x="1996320" y="21014"/>
                    <a:pt x="1996320" y="28599"/>
                  </a:cubicBezTo>
                  <a:lnTo>
                    <a:pt x="1996320" y="146019"/>
                  </a:lnTo>
                  <a:cubicBezTo>
                    <a:pt x="1996320" y="161814"/>
                    <a:pt x="1983516" y="174618"/>
                    <a:pt x="1967721" y="174618"/>
                  </a:cubicBezTo>
                  <a:lnTo>
                    <a:pt x="28599" y="174618"/>
                  </a:lnTo>
                  <a:cubicBezTo>
                    <a:pt x="21014" y="174618"/>
                    <a:pt x="13740" y="171605"/>
                    <a:pt x="8376" y="166241"/>
                  </a:cubicBezTo>
                  <a:cubicBezTo>
                    <a:pt x="3013" y="160878"/>
                    <a:pt x="0" y="153604"/>
                    <a:pt x="0" y="146019"/>
                  </a:cubicBezTo>
                  <a:lnTo>
                    <a:pt x="0" y="28599"/>
                  </a:lnTo>
                  <a:cubicBezTo>
                    <a:pt x="0" y="21014"/>
                    <a:pt x="3013" y="13740"/>
                    <a:pt x="8376" y="8376"/>
                  </a:cubicBezTo>
                  <a:cubicBezTo>
                    <a:pt x="13740" y="3013"/>
                    <a:pt x="21014" y="0"/>
                    <a:pt x="28599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96320" cy="212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889006" y="9258300"/>
            <a:ext cx="24066013" cy="1630186"/>
            <a:chOff x="0" y="0"/>
            <a:chExt cx="6338374" cy="4293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38374" cy="429349"/>
            </a:xfrm>
            <a:custGeom>
              <a:avLst/>
              <a:gdLst/>
              <a:ahLst/>
              <a:cxnLst/>
              <a:rect r="r" b="b" t="t" l="l"/>
              <a:pathLst>
                <a:path h="429349" w="6338374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986329" y="6178774"/>
            <a:ext cx="7579777" cy="663002"/>
            <a:chOff x="0" y="0"/>
            <a:chExt cx="1996320" cy="1746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96320" cy="174618"/>
            </a:xfrm>
            <a:custGeom>
              <a:avLst/>
              <a:gdLst/>
              <a:ahLst/>
              <a:cxnLst/>
              <a:rect r="r" b="b" t="t" l="l"/>
              <a:pathLst>
                <a:path h="174618" w="1996320">
                  <a:moveTo>
                    <a:pt x="28599" y="0"/>
                  </a:moveTo>
                  <a:lnTo>
                    <a:pt x="1967721" y="0"/>
                  </a:lnTo>
                  <a:cubicBezTo>
                    <a:pt x="1975306" y="0"/>
                    <a:pt x="1982580" y="3013"/>
                    <a:pt x="1987943" y="8376"/>
                  </a:cubicBezTo>
                  <a:cubicBezTo>
                    <a:pt x="1993307" y="13740"/>
                    <a:pt x="1996320" y="21014"/>
                    <a:pt x="1996320" y="28599"/>
                  </a:cubicBezTo>
                  <a:lnTo>
                    <a:pt x="1996320" y="146019"/>
                  </a:lnTo>
                  <a:cubicBezTo>
                    <a:pt x="1996320" y="161814"/>
                    <a:pt x="1983516" y="174618"/>
                    <a:pt x="1967721" y="174618"/>
                  </a:cubicBezTo>
                  <a:lnTo>
                    <a:pt x="28599" y="174618"/>
                  </a:lnTo>
                  <a:cubicBezTo>
                    <a:pt x="21014" y="174618"/>
                    <a:pt x="13740" y="171605"/>
                    <a:pt x="8376" y="166241"/>
                  </a:cubicBezTo>
                  <a:cubicBezTo>
                    <a:pt x="3013" y="160878"/>
                    <a:pt x="0" y="153604"/>
                    <a:pt x="0" y="146019"/>
                  </a:cubicBezTo>
                  <a:lnTo>
                    <a:pt x="0" y="28599"/>
                  </a:lnTo>
                  <a:cubicBezTo>
                    <a:pt x="0" y="21014"/>
                    <a:pt x="3013" y="13740"/>
                    <a:pt x="8376" y="8376"/>
                  </a:cubicBezTo>
                  <a:cubicBezTo>
                    <a:pt x="13740" y="3013"/>
                    <a:pt x="21014" y="0"/>
                    <a:pt x="28599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96320" cy="212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86329" y="7032275"/>
            <a:ext cx="7579777" cy="660076"/>
            <a:chOff x="0" y="0"/>
            <a:chExt cx="1996320" cy="1738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96320" cy="173847"/>
            </a:xfrm>
            <a:custGeom>
              <a:avLst/>
              <a:gdLst/>
              <a:ahLst/>
              <a:cxnLst/>
              <a:rect r="r" b="b" t="t" l="l"/>
              <a:pathLst>
                <a:path h="173847" w="1996320">
                  <a:moveTo>
                    <a:pt x="28599" y="0"/>
                  </a:moveTo>
                  <a:lnTo>
                    <a:pt x="1967721" y="0"/>
                  </a:lnTo>
                  <a:cubicBezTo>
                    <a:pt x="1975306" y="0"/>
                    <a:pt x="1982580" y="3013"/>
                    <a:pt x="1987943" y="8376"/>
                  </a:cubicBezTo>
                  <a:cubicBezTo>
                    <a:pt x="1993307" y="13740"/>
                    <a:pt x="1996320" y="21014"/>
                    <a:pt x="1996320" y="28599"/>
                  </a:cubicBezTo>
                  <a:lnTo>
                    <a:pt x="1996320" y="145248"/>
                  </a:lnTo>
                  <a:cubicBezTo>
                    <a:pt x="1996320" y="161043"/>
                    <a:pt x="1983516" y="173847"/>
                    <a:pt x="1967721" y="173847"/>
                  </a:cubicBezTo>
                  <a:lnTo>
                    <a:pt x="28599" y="173847"/>
                  </a:lnTo>
                  <a:cubicBezTo>
                    <a:pt x="21014" y="173847"/>
                    <a:pt x="13740" y="170834"/>
                    <a:pt x="8376" y="165471"/>
                  </a:cubicBezTo>
                  <a:cubicBezTo>
                    <a:pt x="3013" y="160107"/>
                    <a:pt x="0" y="152833"/>
                    <a:pt x="0" y="145248"/>
                  </a:cubicBezTo>
                  <a:lnTo>
                    <a:pt x="0" y="28599"/>
                  </a:lnTo>
                  <a:cubicBezTo>
                    <a:pt x="0" y="21014"/>
                    <a:pt x="3013" y="13740"/>
                    <a:pt x="8376" y="8376"/>
                  </a:cubicBezTo>
                  <a:cubicBezTo>
                    <a:pt x="13740" y="3013"/>
                    <a:pt x="21014" y="0"/>
                    <a:pt x="28599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96320" cy="211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986329" y="7885777"/>
            <a:ext cx="7579777" cy="706772"/>
            <a:chOff x="0" y="0"/>
            <a:chExt cx="1996320" cy="1861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96320" cy="186146"/>
            </a:xfrm>
            <a:custGeom>
              <a:avLst/>
              <a:gdLst/>
              <a:ahLst/>
              <a:cxnLst/>
              <a:rect r="r" b="b" t="t" l="l"/>
              <a:pathLst>
                <a:path h="186146" w="1996320">
                  <a:moveTo>
                    <a:pt x="28599" y="0"/>
                  </a:moveTo>
                  <a:lnTo>
                    <a:pt x="1967721" y="0"/>
                  </a:lnTo>
                  <a:cubicBezTo>
                    <a:pt x="1975306" y="0"/>
                    <a:pt x="1982580" y="3013"/>
                    <a:pt x="1987943" y="8376"/>
                  </a:cubicBezTo>
                  <a:cubicBezTo>
                    <a:pt x="1993307" y="13740"/>
                    <a:pt x="1996320" y="21014"/>
                    <a:pt x="1996320" y="28599"/>
                  </a:cubicBezTo>
                  <a:lnTo>
                    <a:pt x="1996320" y="157547"/>
                  </a:lnTo>
                  <a:cubicBezTo>
                    <a:pt x="1996320" y="165132"/>
                    <a:pt x="1993307" y="172406"/>
                    <a:pt x="1987943" y="177769"/>
                  </a:cubicBezTo>
                  <a:cubicBezTo>
                    <a:pt x="1982580" y="183132"/>
                    <a:pt x="1975306" y="186146"/>
                    <a:pt x="1967721" y="186146"/>
                  </a:cubicBezTo>
                  <a:lnTo>
                    <a:pt x="28599" y="186146"/>
                  </a:lnTo>
                  <a:cubicBezTo>
                    <a:pt x="21014" y="186146"/>
                    <a:pt x="13740" y="183132"/>
                    <a:pt x="8376" y="177769"/>
                  </a:cubicBezTo>
                  <a:cubicBezTo>
                    <a:pt x="3013" y="172406"/>
                    <a:pt x="0" y="165132"/>
                    <a:pt x="0" y="157547"/>
                  </a:cubicBezTo>
                  <a:lnTo>
                    <a:pt x="0" y="28599"/>
                  </a:lnTo>
                  <a:cubicBezTo>
                    <a:pt x="0" y="21014"/>
                    <a:pt x="3013" y="13740"/>
                    <a:pt x="8376" y="8376"/>
                  </a:cubicBezTo>
                  <a:cubicBezTo>
                    <a:pt x="13740" y="3013"/>
                    <a:pt x="21014" y="0"/>
                    <a:pt x="28599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96320" cy="224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30146" y="4588747"/>
            <a:ext cx="472735" cy="47273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30146" y="5431867"/>
            <a:ext cx="472735" cy="47273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30146" y="6274987"/>
            <a:ext cx="472735" cy="47273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30146" y="7118106"/>
            <a:ext cx="472735" cy="47273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30146" y="7961226"/>
            <a:ext cx="472735" cy="472735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-132483" y="1771643"/>
            <a:ext cx="10431209" cy="7693016"/>
          </a:xfrm>
          <a:custGeom>
            <a:avLst/>
            <a:gdLst/>
            <a:ahLst/>
            <a:cxnLst/>
            <a:rect r="r" b="b" t="t" l="l"/>
            <a:pathLst>
              <a:path h="7693016" w="10431209">
                <a:moveTo>
                  <a:pt x="0" y="0"/>
                </a:moveTo>
                <a:lnTo>
                  <a:pt x="10431208" y="0"/>
                </a:lnTo>
                <a:lnTo>
                  <a:pt x="10431208" y="7693017"/>
                </a:lnTo>
                <a:lnTo>
                  <a:pt x="0" y="76930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-8624752">
            <a:off x="785499" y="3828383"/>
            <a:ext cx="1085674" cy="1556523"/>
          </a:xfrm>
          <a:custGeom>
            <a:avLst/>
            <a:gdLst/>
            <a:ahLst/>
            <a:cxnLst/>
            <a:rect r="r" b="b" t="t" l="l"/>
            <a:pathLst>
              <a:path h="1556523" w="1085674">
                <a:moveTo>
                  <a:pt x="0" y="0"/>
                </a:moveTo>
                <a:lnTo>
                  <a:pt x="1085675" y="0"/>
                </a:lnTo>
                <a:lnTo>
                  <a:pt x="1085675" y="1556523"/>
                </a:lnTo>
                <a:lnTo>
                  <a:pt x="0" y="15565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3736269">
            <a:off x="7443072" y="6750963"/>
            <a:ext cx="856381" cy="1227787"/>
          </a:xfrm>
          <a:custGeom>
            <a:avLst/>
            <a:gdLst/>
            <a:ahLst/>
            <a:cxnLst/>
            <a:rect r="r" b="b" t="t" l="l"/>
            <a:pathLst>
              <a:path h="1227787" w="856381">
                <a:moveTo>
                  <a:pt x="0" y="0"/>
                </a:moveTo>
                <a:lnTo>
                  <a:pt x="856381" y="0"/>
                </a:lnTo>
                <a:lnTo>
                  <a:pt x="856381" y="1227786"/>
                </a:lnTo>
                <a:lnTo>
                  <a:pt x="0" y="12277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-647932" y="-170092"/>
            <a:ext cx="3353264" cy="2397584"/>
          </a:xfrm>
          <a:custGeom>
            <a:avLst/>
            <a:gdLst/>
            <a:ahLst/>
            <a:cxnLst/>
            <a:rect r="r" b="b" t="t" l="l"/>
            <a:pathLst>
              <a:path h="2397584" w="3353264">
                <a:moveTo>
                  <a:pt x="0" y="0"/>
                </a:moveTo>
                <a:lnTo>
                  <a:pt x="3353264" y="0"/>
                </a:lnTo>
                <a:lnTo>
                  <a:pt x="3353264" y="2397584"/>
                </a:lnTo>
                <a:lnTo>
                  <a:pt x="0" y="23975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9330146" y="1559026"/>
            <a:ext cx="8957854" cy="88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33"/>
              </a:lnSpc>
            </a:pPr>
            <a:r>
              <a:rPr lang="en-US" sz="6701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RETENTION STRATEGIES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358897" y="2705836"/>
            <a:ext cx="8929103" cy="128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6"/>
              </a:lnSpc>
            </a:pPr>
            <a:r>
              <a:rPr lang="en-US" b="true" sz="3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Recommended Actions to</a:t>
            </a:r>
          </a:p>
          <a:p>
            <a:pPr algn="l" marL="0" indent="0" lvl="0">
              <a:lnSpc>
                <a:spcPts val="5036"/>
              </a:lnSpc>
            </a:pPr>
            <a:r>
              <a:rPr lang="en-US" b="true" sz="3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Reduce Customer Churn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7612064">
            <a:off x="17420867" y="2450918"/>
            <a:ext cx="1085674" cy="1556523"/>
          </a:xfrm>
          <a:custGeom>
            <a:avLst/>
            <a:gdLst/>
            <a:ahLst/>
            <a:cxnLst/>
            <a:rect r="r" b="b" t="t" l="l"/>
            <a:pathLst>
              <a:path h="1556523" w="1085674">
                <a:moveTo>
                  <a:pt x="0" y="0"/>
                </a:moveTo>
                <a:lnTo>
                  <a:pt x="1085675" y="0"/>
                </a:lnTo>
                <a:lnTo>
                  <a:pt x="1085675" y="1556522"/>
                </a:lnTo>
                <a:lnTo>
                  <a:pt x="0" y="15565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0390267" y="4549495"/>
            <a:ext cx="7175839" cy="359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76"/>
              </a:lnSpc>
            </a:pPr>
            <a:r>
              <a:rPr lang="en-US" sz="19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Promote longer-term contract plans to reduce churn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390267" y="5402996"/>
            <a:ext cx="7175839" cy="342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36"/>
              </a:lnSpc>
            </a:pPr>
            <a:r>
              <a:rPr lang="en-US" sz="18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Tailor pricing and offers to high-risk early tenure customers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390267" y="6256498"/>
            <a:ext cx="7175839" cy="342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36"/>
              </a:lnSpc>
            </a:pPr>
            <a:r>
              <a:rPr lang="en-US" sz="18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Implement proactive engagement for new customers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390267" y="7109999"/>
            <a:ext cx="7175839" cy="342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36"/>
              </a:lnSpc>
            </a:pPr>
            <a:r>
              <a:rPr lang="en-US" sz="18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Monitor high monthly charges as churn risk signals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390267" y="7963501"/>
            <a:ext cx="7175839" cy="342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36"/>
              </a:lnSpc>
            </a:pPr>
            <a:r>
              <a:rPr lang="en-US" sz="18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 loyalty incentives for month-to-month subscribers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2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34441" y="0"/>
            <a:ext cx="20556882" cy="10287000"/>
            <a:chOff x="0" y="0"/>
            <a:chExt cx="2740917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693176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86329" y="4471770"/>
            <a:ext cx="7579777" cy="638719"/>
            <a:chOff x="0" y="0"/>
            <a:chExt cx="1996320" cy="168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96320" cy="168222"/>
            </a:xfrm>
            <a:custGeom>
              <a:avLst/>
              <a:gdLst/>
              <a:ahLst/>
              <a:cxnLst/>
              <a:rect r="r" b="b" t="t" l="l"/>
              <a:pathLst>
                <a:path h="168222" w="1996320">
                  <a:moveTo>
                    <a:pt x="28599" y="0"/>
                  </a:moveTo>
                  <a:lnTo>
                    <a:pt x="1967721" y="0"/>
                  </a:lnTo>
                  <a:cubicBezTo>
                    <a:pt x="1975306" y="0"/>
                    <a:pt x="1982580" y="3013"/>
                    <a:pt x="1987943" y="8376"/>
                  </a:cubicBezTo>
                  <a:cubicBezTo>
                    <a:pt x="1993307" y="13740"/>
                    <a:pt x="1996320" y="21014"/>
                    <a:pt x="1996320" y="28599"/>
                  </a:cubicBezTo>
                  <a:lnTo>
                    <a:pt x="1996320" y="139623"/>
                  </a:lnTo>
                  <a:cubicBezTo>
                    <a:pt x="1996320" y="147208"/>
                    <a:pt x="1993307" y="154483"/>
                    <a:pt x="1987943" y="159846"/>
                  </a:cubicBezTo>
                  <a:cubicBezTo>
                    <a:pt x="1982580" y="165209"/>
                    <a:pt x="1975306" y="168222"/>
                    <a:pt x="1967721" y="168222"/>
                  </a:cubicBezTo>
                  <a:lnTo>
                    <a:pt x="28599" y="168222"/>
                  </a:lnTo>
                  <a:cubicBezTo>
                    <a:pt x="21014" y="168222"/>
                    <a:pt x="13740" y="165209"/>
                    <a:pt x="8376" y="159846"/>
                  </a:cubicBezTo>
                  <a:cubicBezTo>
                    <a:pt x="3013" y="154483"/>
                    <a:pt x="0" y="147208"/>
                    <a:pt x="0" y="139623"/>
                  </a:cubicBezTo>
                  <a:lnTo>
                    <a:pt x="0" y="28599"/>
                  </a:lnTo>
                  <a:cubicBezTo>
                    <a:pt x="0" y="21014"/>
                    <a:pt x="3013" y="13740"/>
                    <a:pt x="8376" y="8376"/>
                  </a:cubicBezTo>
                  <a:cubicBezTo>
                    <a:pt x="13740" y="3013"/>
                    <a:pt x="21014" y="0"/>
                    <a:pt x="28599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96320" cy="206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86329" y="5325272"/>
            <a:ext cx="7579777" cy="663002"/>
            <a:chOff x="0" y="0"/>
            <a:chExt cx="1996320" cy="1746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6320" cy="174618"/>
            </a:xfrm>
            <a:custGeom>
              <a:avLst/>
              <a:gdLst/>
              <a:ahLst/>
              <a:cxnLst/>
              <a:rect r="r" b="b" t="t" l="l"/>
              <a:pathLst>
                <a:path h="174618" w="1996320">
                  <a:moveTo>
                    <a:pt x="28599" y="0"/>
                  </a:moveTo>
                  <a:lnTo>
                    <a:pt x="1967721" y="0"/>
                  </a:lnTo>
                  <a:cubicBezTo>
                    <a:pt x="1975306" y="0"/>
                    <a:pt x="1982580" y="3013"/>
                    <a:pt x="1987943" y="8376"/>
                  </a:cubicBezTo>
                  <a:cubicBezTo>
                    <a:pt x="1993307" y="13740"/>
                    <a:pt x="1996320" y="21014"/>
                    <a:pt x="1996320" y="28599"/>
                  </a:cubicBezTo>
                  <a:lnTo>
                    <a:pt x="1996320" y="146019"/>
                  </a:lnTo>
                  <a:cubicBezTo>
                    <a:pt x="1996320" y="161814"/>
                    <a:pt x="1983516" y="174618"/>
                    <a:pt x="1967721" y="174618"/>
                  </a:cubicBezTo>
                  <a:lnTo>
                    <a:pt x="28599" y="174618"/>
                  </a:lnTo>
                  <a:cubicBezTo>
                    <a:pt x="21014" y="174618"/>
                    <a:pt x="13740" y="171605"/>
                    <a:pt x="8376" y="166241"/>
                  </a:cubicBezTo>
                  <a:cubicBezTo>
                    <a:pt x="3013" y="160878"/>
                    <a:pt x="0" y="153604"/>
                    <a:pt x="0" y="146019"/>
                  </a:cubicBezTo>
                  <a:lnTo>
                    <a:pt x="0" y="28599"/>
                  </a:lnTo>
                  <a:cubicBezTo>
                    <a:pt x="0" y="21014"/>
                    <a:pt x="3013" y="13740"/>
                    <a:pt x="8376" y="8376"/>
                  </a:cubicBezTo>
                  <a:cubicBezTo>
                    <a:pt x="13740" y="3013"/>
                    <a:pt x="21014" y="0"/>
                    <a:pt x="28599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96320" cy="212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889006" y="9258300"/>
            <a:ext cx="24066013" cy="1630186"/>
            <a:chOff x="0" y="0"/>
            <a:chExt cx="6338374" cy="4293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38374" cy="429349"/>
            </a:xfrm>
            <a:custGeom>
              <a:avLst/>
              <a:gdLst/>
              <a:ahLst/>
              <a:cxnLst/>
              <a:rect r="r" b="b" t="t" l="l"/>
              <a:pathLst>
                <a:path h="429349" w="6338374">
                  <a:moveTo>
                    <a:pt x="3169187" y="0"/>
                  </a:moveTo>
                  <a:cubicBezTo>
                    <a:pt x="1418893" y="0"/>
                    <a:pt x="0" y="96113"/>
                    <a:pt x="0" y="214675"/>
                  </a:cubicBezTo>
                  <a:cubicBezTo>
                    <a:pt x="0" y="333236"/>
                    <a:pt x="1418893" y="429349"/>
                    <a:pt x="3169187" y="429349"/>
                  </a:cubicBezTo>
                  <a:cubicBezTo>
                    <a:pt x="4919480" y="429349"/>
                    <a:pt x="6338374" y="333236"/>
                    <a:pt x="6338374" y="214675"/>
                  </a:cubicBezTo>
                  <a:cubicBezTo>
                    <a:pt x="6338374" y="96113"/>
                    <a:pt x="4919480" y="0"/>
                    <a:pt x="316918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594223" y="2152"/>
              <a:ext cx="5149929" cy="386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986329" y="6178774"/>
            <a:ext cx="7579777" cy="687241"/>
            <a:chOff x="0" y="0"/>
            <a:chExt cx="1996320" cy="1810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96320" cy="181002"/>
            </a:xfrm>
            <a:custGeom>
              <a:avLst/>
              <a:gdLst/>
              <a:ahLst/>
              <a:cxnLst/>
              <a:rect r="r" b="b" t="t" l="l"/>
              <a:pathLst>
                <a:path h="181002" w="1996320">
                  <a:moveTo>
                    <a:pt x="28599" y="0"/>
                  </a:moveTo>
                  <a:lnTo>
                    <a:pt x="1967721" y="0"/>
                  </a:lnTo>
                  <a:cubicBezTo>
                    <a:pt x="1975306" y="0"/>
                    <a:pt x="1982580" y="3013"/>
                    <a:pt x="1987943" y="8376"/>
                  </a:cubicBezTo>
                  <a:cubicBezTo>
                    <a:pt x="1993307" y="13740"/>
                    <a:pt x="1996320" y="21014"/>
                    <a:pt x="1996320" y="28599"/>
                  </a:cubicBezTo>
                  <a:lnTo>
                    <a:pt x="1996320" y="152403"/>
                  </a:lnTo>
                  <a:cubicBezTo>
                    <a:pt x="1996320" y="168198"/>
                    <a:pt x="1983516" y="181002"/>
                    <a:pt x="1967721" y="181002"/>
                  </a:cubicBezTo>
                  <a:lnTo>
                    <a:pt x="28599" y="181002"/>
                  </a:lnTo>
                  <a:cubicBezTo>
                    <a:pt x="21014" y="181002"/>
                    <a:pt x="13740" y="177989"/>
                    <a:pt x="8376" y="172625"/>
                  </a:cubicBezTo>
                  <a:cubicBezTo>
                    <a:pt x="3013" y="167262"/>
                    <a:pt x="0" y="159988"/>
                    <a:pt x="0" y="152403"/>
                  </a:cubicBezTo>
                  <a:lnTo>
                    <a:pt x="0" y="28599"/>
                  </a:lnTo>
                  <a:cubicBezTo>
                    <a:pt x="0" y="21014"/>
                    <a:pt x="3013" y="13740"/>
                    <a:pt x="8376" y="8376"/>
                  </a:cubicBezTo>
                  <a:cubicBezTo>
                    <a:pt x="13740" y="3013"/>
                    <a:pt x="21014" y="0"/>
                    <a:pt x="28599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96320" cy="219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86329" y="7032275"/>
            <a:ext cx="7579777" cy="671427"/>
            <a:chOff x="0" y="0"/>
            <a:chExt cx="1996320" cy="17683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96320" cy="176837"/>
            </a:xfrm>
            <a:custGeom>
              <a:avLst/>
              <a:gdLst/>
              <a:ahLst/>
              <a:cxnLst/>
              <a:rect r="r" b="b" t="t" l="l"/>
              <a:pathLst>
                <a:path h="176837" w="1996320">
                  <a:moveTo>
                    <a:pt x="28599" y="0"/>
                  </a:moveTo>
                  <a:lnTo>
                    <a:pt x="1967721" y="0"/>
                  </a:lnTo>
                  <a:cubicBezTo>
                    <a:pt x="1975306" y="0"/>
                    <a:pt x="1982580" y="3013"/>
                    <a:pt x="1987943" y="8376"/>
                  </a:cubicBezTo>
                  <a:cubicBezTo>
                    <a:pt x="1993307" y="13740"/>
                    <a:pt x="1996320" y="21014"/>
                    <a:pt x="1996320" y="28599"/>
                  </a:cubicBezTo>
                  <a:lnTo>
                    <a:pt x="1996320" y="148238"/>
                  </a:lnTo>
                  <a:cubicBezTo>
                    <a:pt x="1996320" y="164032"/>
                    <a:pt x="1983516" y="176837"/>
                    <a:pt x="1967721" y="176837"/>
                  </a:cubicBezTo>
                  <a:lnTo>
                    <a:pt x="28599" y="176837"/>
                  </a:lnTo>
                  <a:cubicBezTo>
                    <a:pt x="21014" y="176837"/>
                    <a:pt x="13740" y="173824"/>
                    <a:pt x="8376" y="168460"/>
                  </a:cubicBezTo>
                  <a:cubicBezTo>
                    <a:pt x="3013" y="163097"/>
                    <a:pt x="0" y="155823"/>
                    <a:pt x="0" y="148238"/>
                  </a:cubicBezTo>
                  <a:lnTo>
                    <a:pt x="0" y="28599"/>
                  </a:lnTo>
                  <a:cubicBezTo>
                    <a:pt x="0" y="21014"/>
                    <a:pt x="3013" y="13740"/>
                    <a:pt x="8376" y="8376"/>
                  </a:cubicBezTo>
                  <a:cubicBezTo>
                    <a:pt x="13740" y="3013"/>
                    <a:pt x="21014" y="0"/>
                    <a:pt x="28599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96320" cy="214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151968" y="7865013"/>
            <a:ext cx="7414137" cy="658642"/>
            <a:chOff x="0" y="0"/>
            <a:chExt cx="1952695" cy="1734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52695" cy="173469"/>
            </a:xfrm>
            <a:custGeom>
              <a:avLst/>
              <a:gdLst/>
              <a:ahLst/>
              <a:cxnLst/>
              <a:rect r="r" b="b" t="t" l="l"/>
              <a:pathLst>
                <a:path h="173469" w="1952695">
                  <a:moveTo>
                    <a:pt x="29238" y="0"/>
                  </a:moveTo>
                  <a:lnTo>
                    <a:pt x="1923457" y="0"/>
                  </a:lnTo>
                  <a:cubicBezTo>
                    <a:pt x="1931211" y="0"/>
                    <a:pt x="1938648" y="3080"/>
                    <a:pt x="1944131" y="8564"/>
                  </a:cubicBezTo>
                  <a:cubicBezTo>
                    <a:pt x="1949614" y="14047"/>
                    <a:pt x="1952695" y="21484"/>
                    <a:pt x="1952695" y="29238"/>
                  </a:cubicBezTo>
                  <a:lnTo>
                    <a:pt x="1952695" y="144232"/>
                  </a:lnTo>
                  <a:cubicBezTo>
                    <a:pt x="1952695" y="151986"/>
                    <a:pt x="1949614" y="159423"/>
                    <a:pt x="1944131" y="164906"/>
                  </a:cubicBezTo>
                  <a:cubicBezTo>
                    <a:pt x="1938648" y="170389"/>
                    <a:pt x="1931211" y="173469"/>
                    <a:pt x="1923457" y="173469"/>
                  </a:cubicBezTo>
                  <a:lnTo>
                    <a:pt x="29238" y="173469"/>
                  </a:lnTo>
                  <a:cubicBezTo>
                    <a:pt x="21484" y="173469"/>
                    <a:pt x="14047" y="170389"/>
                    <a:pt x="8564" y="164906"/>
                  </a:cubicBezTo>
                  <a:cubicBezTo>
                    <a:pt x="3080" y="159423"/>
                    <a:pt x="0" y="151986"/>
                    <a:pt x="0" y="144232"/>
                  </a:cubicBezTo>
                  <a:lnTo>
                    <a:pt x="0" y="29238"/>
                  </a:lnTo>
                  <a:cubicBezTo>
                    <a:pt x="0" y="21484"/>
                    <a:pt x="3080" y="14047"/>
                    <a:pt x="8564" y="8564"/>
                  </a:cubicBezTo>
                  <a:cubicBezTo>
                    <a:pt x="14047" y="3080"/>
                    <a:pt x="21484" y="0"/>
                    <a:pt x="29238" y="0"/>
                  </a:cubicBezTo>
                  <a:close/>
                </a:path>
              </a:pathLst>
            </a:custGeom>
            <a:solidFill>
              <a:srgbClr val="F26B0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52695" cy="211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30146" y="4588747"/>
            <a:ext cx="472735" cy="47273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30146" y="5431867"/>
            <a:ext cx="472735" cy="47273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30146" y="6274987"/>
            <a:ext cx="472735" cy="47273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30146" y="7118106"/>
            <a:ext cx="472735" cy="47273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30146" y="7961226"/>
            <a:ext cx="472735" cy="472735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-369205" y="1093661"/>
            <a:ext cx="10906416" cy="7879886"/>
          </a:xfrm>
          <a:custGeom>
            <a:avLst/>
            <a:gdLst/>
            <a:ahLst/>
            <a:cxnLst/>
            <a:rect r="r" b="b" t="t" l="l"/>
            <a:pathLst>
              <a:path h="7879886" w="10906416">
                <a:moveTo>
                  <a:pt x="0" y="0"/>
                </a:moveTo>
                <a:lnTo>
                  <a:pt x="10906416" y="0"/>
                </a:lnTo>
                <a:lnTo>
                  <a:pt x="10906416" y="7879885"/>
                </a:lnTo>
                <a:lnTo>
                  <a:pt x="0" y="78798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-8624752">
            <a:off x="785499" y="3828383"/>
            <a:ext cx="1085674" cy="1556523"/>
          </a:xfrm>
          <a:custGeom>
            <a:avLst/>
            <a:gdLst/>
            <a:ahLst/>
            <a:cxnLst/>
            <a:rect r="r" b="b" t="t" l="l"/>
            <a:pathLst>
              <a:path h="1556523" w="1085674">
                <a:moveTo>
                  <a:pt x="0" y="0"/>
                </a:moveTo>
                <a:lnTo>
                  <a:pt x="1085675" y="0"/>
                </a:lnTo>
                <a:lnTo>
                  <a:pt x="1085675" y="1556523"/>
                </a:lnTo>
                <a:lnTo>
                  <a:pt x="0" y="15565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3736269">
            <a:off x="7443072" y="6750963"/>
            <a:ext cx="856381" cy="1227787"/>
          </a:xfrm>
          <a:custGeom>
            <a:avLst/>
            <a:gdLst/>
            <a:ahLst/>
            <a:cxnLst/>
            <a:rect r="r" b="b" t="t" l="l"/>
            <a:pathLst>
              <a:path h="1227787" w="856381">
                <a:moveTo>
                  <a:pt x="0" y="0"/>
                </a:moveTo>
                <a:lnTo>
                  <a:pt x="856381" y="0"/>
                </a:lnTo>
                <a:lnTo>
                  <a:pt x="856381" y="1227786"/>
                </a:lnTo>
                <a:lnTo>
                  <a:pt x="0" y="12277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-149754" y="299049"/>
            <a:ext cx="2956182" cy="2253254"/>
          </a:xfrm>
          <a:custGeom>
            <a:avLst/>
            <a:gdLst/>
            <a:ahLst/>
            <a:cxnLst/>
            <a:rect r="r" b="b" t="t" l="l"/>
            <a:pathLst>
              <a:path h="2253254" w="2956182">
                <a:moveTo>
                  <a:pt x="0" y="0"/>
                </a:moveTo>
                <a:lnTo>
                  <a:pt x="2956181" y="0"/>
                </a:lnTo>
                <a:lnTo>
                  <a:pt x="2956181" y="2253254"/>
                </a:lnTo>
                <a:lnTo>
                  <a:pt x="0" y="22532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9330146" y="1520926"/>
            <a:ext cx="8957854" cy="608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64"/>
              </a:lnSpc>
            </a:pPr>
            <a:r>
              <a:rPr lang="en-US" sz="465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LIMITATIONS &amp; CONSIDERATIONS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358897" y="2705836"/>
            <a:ext cx="8929103" cy="128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6"/>
              </a:lnSpc>
            </a:pPr>
            <a:r>
              <a:rPr lang="en-US" b="true" sz="3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Critical Reflection on Data</a:t>
            </a:r>
          </a:p>
          <a:p>
            <a:pPr algn="l" marL="0" indent="0" lvl="0">
              <a:lnSpc>
                <a:spcPts val="5036"/>
              </a:lnSpc>
            </a:pPr>
            <a:r>
              <a:rPr lang="en-US" b="true" sz="3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&amp; Model Constraints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7612064">
            <a:off x="17420867" y="2450918"/>
            <a:ext cx="1085674" cy="1556523"/>
          </a:xfrm>
          <a:custGeom>
            <a:avLst/>
            <a:gdLst/>
            <a:ahLst/>
            <a:cxnLst/>
            <a:rect r="r" b="b" t="t" l="l"/>
            <a:pathLst>
              <a:path h="1556523" w="1085674">
                <a:moveTo>
                  <a:pt x="0" y="0"/>
                </a:moveTo>
                <a:lnTo>
                  <a:pt x="1085675" y="0"/>
                </a:lnTo>
                <a:lnTo>
                  <a:pt x="1085675" y="1556522"/>
                </a:lnTo>
                <a:lnTo>
                  <a:pt x="0" y="15565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0390267" y="4539970"/>
            <a:ext cx="7175839" cy="39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02"/>
              </a:lnSpc>
            </a:pPr>
            <a:r>
              <a:rPr lang="en-US" sz="21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Dataset based on fictional telecom company data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390267" y="5393471"/>
            <a:ext cx="7175839" cy="39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02"/>
              </a:lnSpc>
            </a:pPr>
            <a:r>
              <a:rPr lang="en-US" sz="21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Class imbalance reduces model sensitivity for churn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390267" y="6246973"/>
            <a:ext cx="7175839" cy="39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02"/>
              </a:lnSpc>
            </a:pPr>
            <a:r>
              <a:rPr lang="en-US" sz="21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Limited features: no satisfaction or competitor data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390267" y="7100474"/>
            <a:ext cx="7175839" cy="39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02"/>
              </a:lnSpc>
            </a:pPr>
            <a:r>
              <a:rPr lang="en-US" sz="21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Logistic Regression is a baseline model only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390267" y="7953976"/>
            <a:ext cx="7175839" cy="39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02"/>
              </a:lnSpc>
            </a:pPr>
            <a:r>
              <a:rPr lang="en-US" sz="21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Advanced models needed for improved 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DAHMzsTgcY4</dc:identifier>
  <dcterms:modified xsi:type="dcterms:W3CDTF">2011-08-01T06:04:30Z</dcterms:modified>
  <cp:revision>1</cp:revision>
  <dc:title>Customer Churn Analysis – Telecom Data Insights</dc:title>
</cp:coreProperties>
</file>